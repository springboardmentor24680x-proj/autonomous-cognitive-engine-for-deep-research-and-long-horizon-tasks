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Montserrat Bold" charset="1" panose="00000800000000000000"/>
      <p:regular r:id="rId21"/>
    </p:embeddedFont>
    <p:embeddedFont>
      <p:font typeface="Montserrat Bold Italics" charset="1" panose="00000800000000000000"/>
      <p:regular r:id="rId22"/>
    </p:embeddedFont>
    <p:embeddedFont>
      <p:font typeface="Solway" charset="1" panose="00000500000000000000"/>
      <p:regular r:id="rId23"/>
    </p:embeddedFont>
    <p:embeddedFont>
      <p:font typeface="Solway Bold" charset="1" panose="000009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6.pn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50066">
                <a:alpha val="100000"/>
              </a:srgbClr>
            </a:gs>
            <a:gs pos="100000">
              <a:srgbClr val="410659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017632" y="0"/>
            <a:ext cx="10270368" cy="10287000"/>
          </a:xfrm>
          <a:custGeom>
            <a:avLst/>
            <a:gdLst/>
            <a:ahLst/>
            <a:cxnLst/>
            <a:rect r="r" b="b" t="t" l="l"/>
            <a:pathLst>
              <a:path h="10287000" w="10270368">
                <a:moveTo>
                  <a:pt x="0" y="0"/>
                </a:moveTo>
                <a:lnTo>
                  <a:pt x="10270368" y="0"/>
                </a:lnTo>
                <a:lnTo>
                  <a:pt x="1027036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l="0" t="-6669" r="0" b="-2666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520473" y="3843785"/>
            <a:ext cx="4856065" cy="4856065"/>
          </a:xfrm>
          <a:custGeom>
            <a:avLst/>
            <a:gdLst/>
            <a:ahLst/>
            <a:cxnLst/>
            <a:rect r="r" b="b" t="t" l="l"/>
            <a:pathLst>
              <a:path h="4856065" w="4856065">
                <a:moveTo>
                  <a:pt x="0" y="0"/>
                </a:moveTo>
                <a:lnTo>
                  <a:pt x="4856065" y="0"/>
                </a:lnTo>
                <a:lnTo>
                  <a:pt x="4856065" y="4856065"/>
                </a:lnTo>
                <a:lnTo>
                  <a:pt x="0" y="48560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1736491" y="2037800"/>
            <a:ext cx="4951279" cy="4951279"/>
          </a:xfrm>
          <a:custGeom>
            <a:avLst/>
            <a:gdLst/>
            <a:ahLst/>
            <a:cxnLst/>
            <a:rect r="r" b="b" t="t" l="l"/>
            <a:pathLst>
              <a:path h="4951279" w="4951279">
                <a:moveTo>
                  <a:pt x="4951279" y="4951279"/>
                </a:moveTo>
                <a:lnTo>
                  <a:pt x="0" y="4951279"/>
                </a:lnTo>
                <a:lnTo>
                  <a:pt x="0" y="0"/>
                </a:lnTo>
                <a:lnTo>
                  <a:pt x="4951279" y="0"/>
                </a:lnTo>
                <a:lnTo>
                  <a:pt x="4951279" y="4951279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69816" y="2592239"/>
            <a:ext cx="12925702" cy="5302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02"/>
              </a:lnSpc>
            </a:pPr>
            <a:r>
              <a:rPr lang="en-US" b="true" sz="8739" spc="1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AUTONOMOUS</a:t>
            </a:r>
          </a:p>
          <a:p>
            <a:pPr algn="ctr">
              <a:lnSpc>
                <a:spcPts val="8302"/>
              </a:lnSpc>
            </a:pPr>
          </a:p>
          <a:p>
            <a:pPr algn="ctr">
              <a:lnSpc>
                <a:spcPts val="8302"/>
              </a:lnSpc>
            </a:pPr>
            <a:r>
              <a:rPr lang="en-US" b="true" sz="8739" spc="1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COGNITIVE </a:t>
            </a:r>
          </a:p>
          <a:p>
            <a:pPr algn="ctr">
              <a:lnSpc>
                <a:spcPts val="8302"/>
              </a:lnSpc>
            </a:pPr>
          </a:p>
          <a:p>
            <a:pPr algn="ctr" marL="0" indent="0" lvl="0">
              <a:lnSpc>
                <a:spcPts val="8302"/>
              </a:lnSpc>
            </a:pPr>
            <a:r>
              <a:rPr lang="en-US" b="true" sz="8739" spc="1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AGENT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1126368" y="0"/>
            <a:ext cx="10270368" cy="10287000"/>
          </a:xfrm>
          <a:custGeom>
            <a:avLst/>
            <a:gdLst/>
            <a:ahLst/>
            <a:cxnLst/>
            <a:rect r="r" b="b" t="t" l="l"/>
            <a:pathLst>
              <a:path h="10287000" w="10270368">
                <a:moveTo>
                  <a:pt x="0" y="0"/>
                </a:moveTo>
                <a:lnTo>
                  <a:pt x="10270368" y="0"/>
                </a:lnTo>
                <a:lnTo>
                  <a:pt x="1027036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l="0" t="-6669" r="0" b="-26669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193670" y="8540493"/>
            <a:ext cx="12925702" cy="394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2"/>
              </a:lnSpc>
            </a:pPr>
            <a:r>
              <a:rPr lang="en-US" b="true" sz="3139" i="true" spc="6">
                <a:solidFill>
                  <a:srgbClr val="FFFFFF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-by Pavani Sai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50066">
                <a:alpha val="100000"/>
              </a:srgbClr>
            </a:gs>
            <a:gs pos="100000">
              <a:srgbClr val="410659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26368" y="52390"/>
            <a:ext cx="10218062" cy="10234610"/>
          </a:xfrm>
          <a:custGeom>
            <a:avLst/>
            <a:gdLst/>
            <a:ahLst/>
            <a:cxnLst/>
            <a:rect r="r" b="b" t="t" l="l"/>
            <a:pathLst>
              <a:path h="10234610" w="10218062">
                <a:moveTo>
                  <a:pt x="0" y="0"/>
                </a:moveTo>
                <a:lnTo>
                  <a:pt x="10218062" y="0"/>
                </a:lnTo>
                <a:lnTo>
                  <a:pt x="10218062" y="10234610"/>
                </a:lnTo>
                <a:lnTo>
                  <a:pt x="0" y="102346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l="0" t="-6669" r="0" b="-2666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895365" y="0"/>
            <a:ext cx="10322674" cy="10287000"/>
          </a:xfrm>
          <a:custGeom>
            <a:avLst/>
            <a:gdLst/>
            <a:ahLst/>
            <a:cxnLst/>
            <a:rect r="r" b="b" t="t" l="l"/>
            <a:pathLst>
              <a:path h="10287000" w="10322674">
                <a:moveTo>
                  <a:pt x="0" y="0"/>
                </a:moveTo>
                <a:lnTo>
                  <a:pt x="10322674" y="0"/>
                </a:lnTo>
                <a:lnTo>
                  <a:pt x="1032267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l="0" t="-6958" r="0" b="-2706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835539" y="8873589"/>
            <a:ext cx="1864239" cy="769422"/>
          </a:xfrm>
          <a:custGeom>
            <a:avLst/>
            <a:gdLst/>
            <a:ahLst/>
            <a:cxnLst/>
            <a:rect r="r" b="b" t="t" l="l"/>
            <a:pathLst>
              <a:path h="769422" w="1864239">
                <a:moveTo>
                  <a:pt x="1864239" y="0"/>
                </a:moveTo>
                <a:lnTo>
                  <a:pt x="0" y="0"/>
                </a:lnTo>
                <a:lnTo>
                  <a:pt x="0" y="769422"/>
                </a:lnTo>
                <a:lnTo>
                  <a:pt x="1864239" y="769422"/>
                </a:lnTo>
                <a:lnTo>
                  <a:pt x="186423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706091" y="-480205"/>
            <a:ext cx="4067957" cy="3661920"/>
          </a:xfrm>
          <a:custGeom>
            <a:avLst/>
            <a:gdLst/>
            <a:ahLst/>
            <a:cxnLst/>
            <a:rect r="r" b="b" t="t" l="l"/>
            <a:pathLst>
              <a:path h="3661920" w="4067957">
                <a:moveTo>
                  <a:pt x="0" y="0"/>
                </a:moveTo>
                <a:lnTo>
                  <a:pt x="4067957" y="0"/>
                </a:lnTo>
                <a:lnTo>
                  <a:pt x="4067957" y="3661920"/>
                </a:lnTo>
                <a:lnTo>
                  <a:pt x="0" y="36619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91661" y="2424311"/>
            <a:ext cx="14564893" cy="10639209"/>
            <a:chOff x="0" y="0"/>
            <a:chExt cx="3836021" cy="280209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36021" cy="2802096"/>
            </a:xfrm>
            <a:custGeom>
              <a:avLst/>
              <a:gdLst/>
              <a:ahLst/>
              <a:cxnLst/>
              <a:rect r="r" b="b" t="t" l="l"/>
              <a:pathLst>
                <a:path h="2802096" w="3836021">
                  <a:moveTo>
                    <a:pt x="0" y="0"/>
                  </a:moveTo>
                  <a:lnTo>
                    <a:pt x="3836021" y="0"/>
                  </a:lnTo>
                  <a:lnTo>
                    <a:pt x="3836021" y="2802096"/>
                  </a:lnTo>
                  <a:lnTo>
                    <a:pt x="0" y="2802096"/>
                  </a:lnTo>
                  <a:close/>
                </a:path>
              </a:pathLst>
            </a:custGeom>
            <a:gradFill rotWithShape="true">
              <a:gsLst>
                <a:gs pos="0">
                  <a:srgbClr val="050066">
                    <a:alpha val="100000"/>
                  </a:srgbClr>
                </a:gs>
                <a:gs pos="100000">
                  <a:srgbClr val="41065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3836021" cy="2849721"/>
            </a:xfrm>
            <a:prstGeom prst="rect">
              <a:avLst/>
            </a:prstGeom>
          </p:spPr>
          <p:txBody>
            <a:bodyPr anchor="ctr" rtlCol="false" tIns="317500" lIns="317500" bIns="317500" rIns="317500"/>
            <a:lstStyle/>
            <a:p>
              <a:pPr algn="just">
                <a:lnSpc>
                  <a:spcPts val="3991"/>
                </a:lnSpc>
              </a:pPr>
              <a:r>
                <a:rPr lang="en-US" sz="2851" spc="-151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This project implements an Autonomous Cognitive Agent System capable of reasoning, planning, and acting independently. Instead of relying on a single prompt-response interaction, the system maintains context, uses tools, and executes tasks over long horizons.</a:t>
              </a:r>
            </a:p>
            <a:p>
              <a:pPr algn="just">
                <a:lnSpc>
                  <a:spcPts val="3851"/>
                </a:lnSpc>
              </a:pPr>
            </a:p>
            <a:p>
              <a:pPr algn="l" marL="615603" indent="-307802" lvl="1">
                <a:lnSpc>
                  <a:spcPts val="3991"/>
                </a:lnSpc>
                <a:buFont typeface="Arial"/>
                <a:buChar char="•"/>
              </a:pPr>
              <a:r>
                <a:rPr lang="en-US" sz="2851" spc="-68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Build an autonomous AI agent system</a:t>
              </a:r>
            </a:p>
            <a:p>
              <a:pPr algn="l">
                <a:lnSpc>
                  <a:spcPts val="3991"/>
                </a:lnSpc>
              </a:pPr>
            </a:p>
            <a:p>
              <a:pPr algn="l" marL="615603" indent="-307802" lvl="1">
                <a:lnSpc>
                  <a:spcPts val="3991"/>
                </a:lnSpc>
                <a:buFont typeface="Arial"/>
                <a:buChar char="•"/>
              </a:pPr>
              <a:r>
                <a:rPr lang="en-US" sz="2851" spc="-68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Key features: reasoning, tool usage, persistent memory</a:t>
              </a:r>
            </a:p>
            <a:p>
              <a:pPr algn="l">
                <a:lnSpc>
                  <a:spcPts val="3991"/>
                </a:lnSpc>
              </a:pPr>
            </a:p>
            <a:p>
              <a:pPr algn="l" marL="615603" indent="-307802" lvl="1">
                <a:lnSpc>
                  <a:spcPts val="3991"/>
                </a:lnSpc>
                <a:buFont typeface="Arial"/>
                <a:buChar char="•"/>
              </a:pPr>
              <a:r>
                <a:rPr lang="en-US" sz="2851" spc="-68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Modular, scalable, multi-agent design</a:t>
              </a:r>
            </a:p>
            <a:p>
              <a:pPr algn="l">
                <a:lnSpc>
                  <a:spcPts val="3991"/>
                </a:lnSpc>
              </a:pPr>
            </a:p>
            <a:p>
              <a:pPr algn="l">
                <a:lnSpc>
                  <a:spcPts val="3991"/>
                </a:lnSpc>
              </a:pPr>
              <a:r>
                <a:rPr lang="en-US" sz="2851" spc="-68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This system demonstrates how LLMs can be transformed from simple chat models into stateful, goal-driven autonomous agents.</a:t>
              </a:r>
            </a:p>
            <a:p>
              <a:pPr algn="l">
                <a:lnSpc>
                  <a:spcPts val="3851"/>
                </a:lnSpc>
              </a:pPr>
              <a:r>
                <a:rPr lang="en-US" sz="2751" spc="5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    </a:t>
              </a:r>
            </a:p>
            <a:p>
              <a:pPr algn="l">
                <a:lnSpc>
                  <a:spcPts val="3711"/>
                </a:lnSpc>
              </a:pPr>
            </a:p>
            <a:p>
              <a:pPr algn="l">
                <a:lnSpc>
                  <a:spcPts val="2121"/>
                </a:lnSpc>
              </a:pPr>
            </a:p>
            <a:p>
              <a:pPr algn="l">
                <a:lnSpc>
                  <a:spcPts val="3711"/>
                </a:lnSpc>
              </a:pPr>
            </a:p>
            <a:p>
              <a:pPr algn="l">
                <a:lnSpc>
                  <a:spcPts val="3711"/>
                </a:lnSpc>
              </a:pPr>
            </a:p>
            <a:p>
              <a:pPr algn="l">
                <a:lnSpc>
                  <a:spcPts val="3711"/>
                </a:lnSpc>
              </a:pPr>
            </a:p>
            <a:p>
              <a:pPr algn="l">
                <a:lnSpc>
                  <a:spcPts val="3711"/>
                </a:lnSpc>
              </a:pPr>
            </a:p>
            <a:p>
              <a:pPr algn="l">
                <a:lnSpc>
                  <a:spcPts val="3711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891306" y="1200150"/>
            <a:ext cx="8430592" cy="959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107"/>
              </a:lnSpc>
            </a:pPr>
            <a:r>
              <a:rPr lang="en-US" b="true" sz="7481" spc="-48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 Overview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50066">
                <a:alpha val="100000"/>
              </a:srgbClr>
            </a:gs>
            <a:gs pos="100000">
              <a:srgbClr val="410659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73022" y="0"/>
            <a:ext cx="10270368" cy="10287000"/>
          </a:xfrm>
          <a:custGeom>
            <a:avLst/>
            <a:gdLst/>
            <a:ahLst/>
            <a:cxnLst/>
            <a:rect r="r" b="b" t="t" l="l"/>
            <a:pathLst>
              <a:path h="10287000" w="10270368">
                <a:moveTo>
                  <a:pt x="0" y="0"/>
                </a:moveTo>
                <a:lnTo>
                  <a:pt x="10270368" y="0"/>
                </a:lnTo>
                <a:lnTo>
                  <a:pt x="1027036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l="0" t="-6669" r="0" b="-2666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0"/>
            <a:ext cx="10270368" cy="10287000"/>
          </a:xfrm>
          <a:custGeom>
            <a:avLst/>
            <a:gdLst/>
            <a:ahLst/>
            <a:cxnLst/>
            <a:rect r="r" b="b" t="t" l="l"/>
            <a:pathLst>
              <a:path h="10287000" w="10270368">
                <a:moveTo>
                  <a:pt x="0" y="0"/>
                </a:moveTo>
                <a:lnTo>
                  <a:pt x="10270368" y="0"/>
                </a:lnTo>
                <a:lnTo>
                  <a:pt x="1027036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l="0" t="-6669" r="0" b="-26669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66150" y="1289992"/>
            <a:ext cx="10739752" cy="821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128"/>
              </a:lnSpc>
            </a:pPr>
            <a:r>
              <a:rPr lang="en-US" b="true" sz="6450" spc="-41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Core Technologies Used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242740" y="2415053"/>
            <a:ext cx="14564893" cy="10601153"/>
            <a:chOff x="0" y="0"/>
            <a:chExt cx="3836021" cy="279207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36021" cy="2792073"/>
            </a:xfrm>
            <a:custGeom>
              <a:avLst/>
              <a:gdLst/>
              <a:ahLst/>
              <a:cxnLst/>
              <a:rect r="r" b="b" t="t" l="l"/>
              <a:pathLst>
                <a:path h="2792073" w="3836021">
                  <a:moveTo>
                    <a:pt x="0" y="0"/>
                  </a:moveTo>
                  <a:lnTo>
                    <a:pt x="3836021" y="0"/>
                  </a:lnTo>
                  <a:lnTo>
                    <a:pt x="3836021" y="2792073"/>
                  </a:lnTo>
                  <a:lnTo>
                    <a:pt x="0" y="2792073"/>
                  </a:lnTo>
                  <a:close/>
                </a:path>
              </a:pathLst>
            </a:custGeom>
            <a:gradFill rotWithShape="true">
              <a:gsLst>
                <a:gs pos="0">
                  <a:srgbClr val="050066">
                    <a:alpha val="100000"/>
                  </a:srgbClr>
                </a:gs>
                <a:gs pos="100000">
                  <a:srgbClr val="41065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3836021" cy="2839698"/>
            </a:xfrm>
            <a:prstGeom prst="rect">
              <a:avLst/>
            </a:prstGeom>
          </p:spPr>
          <p:txBody>
            <a:bodyPr anchor="ctr" rtlCol="false" tIns="317500" lIns="317500" bIns="317500" rIns="317500"/>
            <a:lstStyle/>
            <a:p>
              <a:pPr algn="just">
                <a:lnSpc>
                  <a:spcPts val="3991"/>
                </a:lnSpc>
              </a:pPr>
              <a:r>
                <a:rPr lang="en-US" sz="2851" spc="-179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The system is built using modern AI orchestration frameworks and high-performance LLMs.</a:t>
              </a:r>
            </a:p>
            <a:p>
              <a:pPr algn="just">
                <a:lnSpc>
                  <a:spcPts val="3851"/>
                </a:lnSpc>
              </a:pPr>
            </a:p>
            <a:p>
              <a:pPr algn="just">
                <a:lnSpc>
                  <a:spcPts val="3991"/>
                </a:lnSpc>
              </a:pPr>
              <a:r>
                <a:rPr lang="en-US" b="true" sz="2851" spc="-39">
                  <a:solidFill>
                    <a:srgbClr val="FFFFFF"/>
                  </a:solidFill>
                  <a:latin typeface="Solway Bold"/>
                  <a:ea typeface="Solway Bold"/>
                  <a:cs typeface="Solway Bold"/>
                  <a:sym typeface="Solway Bold"/>
                </a:rPr>
                <a:t>Stack Overview:</a:t>
              </a:r>
            </a:p>
            <a:p>
              <a:pPr algn="just">
                <a:lnSpc>
                  <a:spcPts val="3851"/>
                </a:lnSpc>
              </a:pPr>
            </a:p>
            <a:p>
              <a:pPr algn="just" marL="615603" indent="-307802" lvl="1">
                <a:lnSpc>
                  <a:spcPts val="3991"/>
                </a:lnSpc>
                <a:buFont typeface="Arial"/>
                <a:buChar char="•"/>
              </a:pPr>
              <a:r>
                <a:rPr lang="en-US" sz="2851" spc="-39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Python – Core implementation language</a:t>
              </a:r>
            </a:p>
            <a:p>
              <a:pPr algn="just" marL="615603" indent="-307802" lvl="1">
                <a:lnSpc>
                  <a:spcPts val="3991"/>
                </a:lnSpc>
                <a:buFont typeface="Arial"/>
                <a:buChar char="•"/>
              </a:pPr>
              <a:r>
                <a:rPr lang="en-US" sz="2851" spc="-39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LangChain – LLM integration, pr</a:t>
              </a:r>
              <a:r>
                <a:rPr lang="en-US" sz="2851" spc="-39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ompts, and tools</a:t>
              </a:r>
            </a:p>
            <a:p>
              <a:pPr algn="just" marL="615603" indent="-307802" lvl="1">
                <a:lnSpc>
                  <a:spcPts val="3991"/>
                </a:lnSpc>
                <a:buFont typeface="Arial"/>
                <a:buChar char="•"/>
              </a:pPr>
              <a:r>
                <a:rPr lang="en-US" sz="2851" spc="-39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LangGraph – Stateful, graph-based execution</a:t>
              </a:r>
            </a:p>
            <a:p>
              <a:pPr algn="just" marL="615603" indent="-307802" lvl="1">
                <a:lnSpc>
                  <a:spcPts val="3991"/>
                </a:lnSpc>
                <a:buFont typeface="Arial"/>
                <a:buChar char="•"/>
              </a:pPr>
              <a:r>
                <a:rPr lang="en-US" sz="2851" spc="-39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Groq-hosted LLMs – Fast inference for reasoning</a:t>
              </a:r>
            </a:p>
            <a:p>
              <a:pPr algn="just" marL="615603" indent="-307802" lvl="1">
                <a:lnSpc>
                  <a:spcPts val="3991"/>
                </a:lnSpc>
                <a:buFont typeface="Arial"/>
                <a:buChar char="•"/>
              </a:pPr>
              <a:r>
                <a:rPr lang="en-US" sz="2851" spc="-39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Virtual File System (VFS) – </a:t>
              </a:r>
              <a:r>
                <a:rPr lang="en-US" sz="2851" spc="-39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Pers</a:t>
              </a:r>
              <a:r>
                <a:rPr lang="en-US" sz="2851" spc="-39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i</a:t>
              </a:r>
              <a:r>
                <a:rPr lang="en-US" sz="2851" spc="-39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s</a:t>
              </a:r>
              <a:r>
                <a:rPr lang="en-US" sz="2851" spc="-39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t</a:t>
              </a:r>
              <a:r>
                <a:rPr lang="en-US" sz="2851" spc="-39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e</a:t>
              </a:r>
              <a:r>
                <a:rPr lang="en-US" sz="2851" spc="-39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nt memory layer</a:t>
              </a:r>
            </a:p>
            <a:p>
              <a:pPr algn="just">
                <a:lnSpc>
                  <a:spcPts val="3991"/>
                </a:lnSpc>
              </a:pPr>
            </a:p>
            <a:p>
              <a:pPr algn="just">
                <a:lnSpc>
                  <a:spcPts val="3991"/>
                </a:lnSpc>
              </a:pPr>
              <a:r>
                <a:rPr lang="en-US" sz="2851" spc="-39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This stack ensures performance, modularity, and maintainability.</a:t>
              </a:r>
            </a:p>
            <a:p>
              <a:pPr algn="l">
                <a:lnSpc>
                  <a:spcPts val="3851"/>
                </a:lnSpc>
              </a:pPr>
            </a:p>
            <a:p>
              <a:pPr algn="l">
                <a:lnSpc>
                  <a:spcPts val="3851"/>
                </a:lnSpc>
              </a:pPr>
              <a:r>
                <a:rPr lang="en-US" sz="2751" spc="5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    </a:t>
              </a:r>
            </a:p>
            <a:p>
              <a:pPr algn="l">
                <a:lnSpc>
                  <a:spcPts val="3711"/>
                </a:lnSpc>
              </a:pPr>
            </a:p>
            <a:p>
              <a:pPr algn="l">
                <a:lnSpc>
                  <a:spcPts val="2121"/>
                </a:lnSpc>
              </a:pPr>
            </a:p>
            <a:p>
              <a:pPr algn="l">
                <a:lnSpc>
                  <a:spcPts val="3711"/>
                </a:lnSpc>
              </a:pPr>
            </a:p>
            <a:p>
              <a:pPr algn="l">
                <a:lnSpc>
                  <a:spcPts val="3711"/>
                </a:lnSpc>
              </a:pPr>
            </a:p>
            <a:p>
              <a:pPr algn="l">
                <a:lnSpc>
                  <a:spcPts val="3711"/>
                </a:lnSpc>
              </a:pPr>
            </a:p>
            <a:p>
              <a:pPr algn="l">
                <a:lnSpc>
                  <a:spcPts val="3711"/>
                </a:lnSpc>
              </a:pPr>
            </a:p>
            <a:p>
              <a:pPr algn="l">
                <a:lnSpc>
                  <a:spcPts val="3711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true" rot="0">
            <a:off x="-1452721" y="7406294"/>
            <a:ext cx="2481421" cy="1974569"/>
          </a:xfrm>
          <a:custGeom>
            <a:avLst/>
            <a:gdLst/>
            <a:ahLst/>
            <a:cxnLst/>
            <a:rect r="r" b="b" t="t" l="l"/>
            <a:pathLst>
              <a:path h="1974569" w="2481421">
                <a:moveTo>
                  <a:pt x="2481421" y="1974569"/>
                </a:moveTo>
                <a:lnTo>
                  <a:pt x="0" y="1974569"/>
                </a:lnTo>
                <a:lnTo>
                  <a:pt x="0" y="0"/>
                </a:lnTo>
                <a:lnTo>
                  <a:pt x="2481421" y="0"/>
                </a:lnTo>
                <a:lnTo>
                  <a:pt x="2481421" y="1974569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7047289" y="1827265"/>
            <a:ext cx="2481421" cy="1974569"/>
          </a:xfrm>
          <a:custGeom>
            <a:avLst/>
            <a:gdLst/>
            <a:ahLst/>
            <a:cxnLst/>
            <a:rect r="r" b="b" t="t" l="l"/>
            <a:pathLst>
              <a:path h="1974569" w="2481421">
                <a:moveTo>
                  <a:pt x="0" y="0"/>
                </a:moveTo>
                <a:lnTo>
                  <a:pt x="2481422" y="0"/>
                </a:lnTo>
                <a:lnTo>
                  <a:pt x="2481422" y="1974570"/>
                </a:lnTo>
                <a:lnTo>
                  <a:pt x="0" y="19745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50066">
                <a:alpha val="100000"/>
              </a:srgbClr>
            </a:gs>
            <a:gs pos="100000">
              <a:srgbClr val="410659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26368" y="0"/>
            <a:ext cx="10270368" cy="10287000"/>
          </a:xfrm>
          <a:custGeom>
            <a:avLst/>
            <a:gdLst/>
            <a:ahLst/>
            <a:cxnLst/>
            <a:rect r="r" b="b" t="t" l="l"/>
            <a:pathLst>
              <a:path h="10287000" w="10270368">
                <a:moveTo>
                  <a:pt x="0" y="0"/>
                </a:moveTo>
                <a:lnTo>
                  <a:pt x="10270368" y="0"/>
                </a:lnTo>
                <a:lnTo>
                  <a:pt x="1027036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l="0" t="-6669" r="0" b="-2666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0"/>
            <a:ext cx="10270368" cy="10287000"/>
          </a:xfrm>
          <a:custGeom>
            <a:avLst/>
            <a:gdLst/>
            <a:ahLst/>
            <a:cxnLst/>
            <a:rect r="r" b="b" t="t" l="l"/>
            <a:pathLst>
              <a:path h="10287000" w="10270368">
                <a:moveTo>
                  <a:pt x="0" y="0"/>
                </a:moveTo>
                <a:lnTo>
                  <a:pt x="10270368" y="0"/>
                </a:lnTo>
                <a:lnTo>
                  <a:pt x="1027036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l="0" t="-6669" r="0" b="-26669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41900" y="1159442"/>
            <a:ext cx="12354105" cy="864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6450"/>
              </a:lnSpc>
            </a:pPr>
            <a:r>
              <a:rPr lang="en-US" b="true" sz="6790" spc="-44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System Architecture</a:t>
            </a:r>
          </a:p>
        </p:txBody>
      </p:sp>
      <p:sp>
        <p:nvSpPr>
          <p:cNvPr name="Freeform 5" id="5"/>
          <p:cNvSpPr/>
          <p:nvPr/>
        </p:nvSpPr>
        <p:spPr>
          <a:xfrm flipH="true" flipV="true" rot="0">
            <a:off x="-1300321" y="7558694"/>
            <a:ext cx="2481421" cy="1974569"/>
          </a:xfrm>
          <a:custGeom>
            <a:avLst/>
            <a:gdLst/>
            <a:ahLst/>
            <a:cxnLst/>
            <a:rect r="r" b="b" t="t" l="l"/>
            <a:pathLst>
              <a:path h="1974569" w="2481421">
                <a:moveTo>
                  <a:pt x="2481421" y="1974569"/>
                </a:moveTo>
                <a:lnTo>
                  <a:pt x="0" y="1974569"/>
                </a:lnTo>
                <a:lnTo>
                  <a:pt x="0" y="0"/>
                </a:lnTo>
                <a:lnTo>
                  <a:pt x="2481421" y="0"/>
                </a:lnTo>
                <a:lnTo>
                  <a:pt x="2481421" y="1974569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199689" y="1979665"/>
            <a:ext cx="2481421" cy="1974569"/>
          </a:xfrm>
          <a:custGeom>
            <a:avLst/>
            <a:gdLst/>
            <a:ahLst/>
            <a:cxnLst/>
            <a:rect r="r" b="b" t="t" l="l"/>
            <a:pathLst>
              <a:path h="1974569" w="2481421">
                <a:moveTo>
                  <a:pt x="0" y="0"/>
                </a:moveTo>
                <a:lnTo>
                  <a:pt x="2481422" y="0"/>
                </a:lnTo>
                <a:lnTo>
                  <a:pt x="2481422" y="1974570"/>
                </a:lnTo>
                <a:lnTo>
                  <a:pt x="0" y="19745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448186" y="2561710"/>
            <a:ext cx="14359447" cy="10601153"/>
            <a:chOff x="0" y="0"/>
            <a:chExt cx="3781912" cy="279207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781912" cy="2792073"/>
            </a:xfrm>
            <a:custGeom>
              <a:avLst/>
              <a:gdLst/>
              <a:ahLst/>
              <a:cxnLst/>
              <a:rect r="r" b="b" t="t" l="l"/>
              <a:pathLst>
                <a:path h="2792073" w="3781912">
                  <a:moveTo>
                    <a:pt x="0" y="0"/>
                  </a:moveTo>
                  <a:lnTo>
                    <a:pt x="3781912" y="0"/>
                  </a:lnTo>
                  <a:lnTo>
                    <a:pt x="3781912" y="2792073"/>
                  </a:lnTo>
                  <a:lnTo>
                    <a:pt x="0" y="2792073"/>
                  </a:lnTo>
                  <a:close/>
                </a:path>
              </a:pathLst>
            </a:custGeom>
            <a:gradFill rotWithShape="true">
              <a:gsLst>
                <a:gs pos="0">
                  <a:srgbClr val="050066">
                    <a:alpha val="100000"/>
                  </a:srgbClr>
                </a:gs>
                <a:gs pos="100000">
                  <a:srgbClr val="41065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3781912" cy="2839698"/>
            </a:xfrm>
            <a:prstGeom prst="rect">
              <a:avLst/>
            </a:prstGeom>
          </p:spPr>
          <p:txBody>
            <a:bodyPr anchor="ctr" rtlCol="false" tIns="317500" lIns="317500" bIns="317500" rIns="317500"/>
            <a:lstStyle/>
            <a:p>
              <a:pPr algn="just">
                <a:lnSpc>
                  <a:spcPts val="3991"/>
                </a:lnSpc>
              </a:pP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The system follows a </a:t>
              </a:r>
              <a:r>
                <a:rPr lang="en-US" b="true" sz="2851" spc="-96">
                  <a:solidFill>
                    <a:srgbClr val="FFFFFF"/>
                  </a:solidFill>
                  <a:latin typeface="Solway Bold"/>
                  <a:ea typeface="Solway Bold"/>
                  <a:cs typeface="Solway Bold"/>
                  <a:sym typeface="Solway Bold"/>
                </a:rPr>
                <a:t>Supervisor–Worker multi-agent architecture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.</a:t>
              </a:r>
            </a:p>
            <a:p>
              <a:pPr algn="just">
                <a:lnSpc>
                  <a:spcPts val="3991"/>
                </a:lnSpc>
              </a:pPr>
            </a:p>
            <a:p>
              <a:pPr algn="just">
                <a:lnSpc>
                  <a:spcPts val="3991"/>
                </a:lnSpc>
              </a:pP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A cen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t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r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a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l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 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Sup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ervi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sor Agent coordinates multiple specialized agents, while all agents share a persistent memory system.</a:t>
              </a:r>
            </a:p>
            <a:p>
              <a:pPr algn="just">
                <a:lnSpc>
                  <a:spcPts val="3851"/>
                </a:lnSpc>
              </a:pPr>
            </a:p>
            <a:p>
              <a:pPr algn="just">
                <a:lnSpc>
                  <a:spcPts val="3991"/>
                </a:lnSpc>
              </a:pPr>
              <a:r>
                <a:rPr lang="en-US" b="true" sz="2851" spc="-96">
                  <a:solidFill>
                    <a:srgbClr val="FFFFFF"/>
                  </a:solidFill>
                  <a:latin typeface="Solway Bold"/>
                  <a:ea typeface="Solway Bold"/>
                  <a:cs typeface="Solway Bold"/>
                  <a:sym typeface="Solway Bold"/>
                </a:rPr>
                <a:t>Architectural Princi</a:t>
              </a:r>
              <a:r>
                <a:rPr lang="en-US" b="true" sz="2851" spc="-96">
                  <a:solidFill>
                    <a:srgbClr val="FFFFFF"/>
                  </a:solidFill>
                  <a:latin typeface="Solway Bold"/>
                  <a:ea typeface="Solway Bold"/>
                  <a:cs typeface="Solway Bold"/>
                  <a:sym typeface="Solway Bold"/>
                </a:rPr>
                <a:t>ples:</a:t>
              </a:r>
            </a:p>
            <a:p>
              <a:pPr algn="just">
                <a:lnSpc>
                  <a:spcPts val="3851"/>
                </a:lnSpc>
              </a:pPr>
            </a:p>
            <a:p>
              <a:pPr algn="just" marL="615603" indent="-307802" lvl="1">
                <a:lnSpc>
                  <a:spcPts val="3991"/>
                </a:lnSpc>
                <a:buFont typeface="Arial"/>
                <a:buChar char="•"/>
              </a:pP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Sep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aration of reasoning and execution</a:t>
              </a:r>
            </a:p>
            <a:p>
              <a:pPr algn="just" marL="615603" indent="-307802" lvl="1">
                <a:lnSpc>
                  <a:spcPts val="3991"/>
                </a:lnSpc>
                <a:buFont typeface="Arial"/>
                <a:buChar char="•"/>
              </a:pP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Clear 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role-based agent responsibilities</a:t>
              </a:r>
            </a:p>
            <a:p>
              <a:pPr algn="just" marL="615603" indent="-307802" lvl="1">
                <a:lnSpc>
                  <a:spcPts val="3991"/>
                </a:lnSpc>
                <a:buFont typeface="Arial"/>
                <a:buChar char="•"/>
              </a:pP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Shared p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ers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i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s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t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e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nt state</a:t>
              </a:r>
            </a:p>
            <a:p>
              <a:pPr algn="just">
                <a:lnSpc>
                  <a:spcPts val="3991"/>
                </a:lnSpc>
              </a:pPr>
            </a:p>
            <a:p>
              <a:pPr algn="just">
                <a:lnSpc>
                  <a:spcPts val="3991"/>
                </a:lnSpc>
              </a:pP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This design improves scalability, clarity, and fault isolation.</a:t>
              </a:r>
            </a:p>
            <a:p>
              <a:pPr algn="l">
                <a:lnSpc>
                  <a:spcPts val="3851"/>
                </a:lnSpc>
              </a:pPr>
            </a:p>
            <a:p>
              <a:pPr algn="l">
                <a:lnSpc>
                  <a:spcPts val="3851"/>
                </a:lnSpc>
              </a:pPr>
              <a:r>
                <a:rPr lang="en-US" sz="2751" spc="5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    </a:t>
              </a:r>
            </a:p>
            <a:p>
              <a:pPr algn="l">
                <a:lnSpc>
                  <a:spcPts val="3711"/>
                </a:lnSpc>
              </a:pPr>
            </a:p>
            <a:p>
              <a:pPr algn="l">
                <a:lnSpc>
                  <a:spcPts val="2121"/>
                </a:lnSpc>
              </a:pPr>
            </a:p>
            <a:p>
              <a:pPr algn="l">
                <a:lnSpc>
                  <a:spcPts val="3711"/>
                </a:lnSpc>
              </a:pPr>
            </a:p>
            <a:p>
              <a:pPr algn="l">
                <a:lnSpc>
                  <a:spcPts val="3711"/>
                </a:lnSpc>
              </a:pPr>
            </a:p>
            <a:p>
              <a:pPr algn="l">
                <a:lnSpc>
                  <a:spcPts val="3711"/>
                </a:lnSpc>
              </a:pPr>
            </a:p>
            <a:p>
              <a:pPr algn="l">
                <a:lnSpc>
                  <a:spcPts val="3711"/>
                </a:lnSpc>
              </a:pPr>
            </a:p>
            <a:p>
              <a:pPr algn="l">
                <a:lnSpc>
                  <a:spcPts val="3711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50066">
                <a:alpha val="100000"/>
              </a:srgbClr>
            </a:gs>
            <a:gs pos="100000">
              <a:srgbClr val="410659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26368" y="0"/>
            <a:ext cx="10270368" cy="10287000"/>
          </a:xfrm>
          <a:custGeom>
            <a:avLst/>
            <a:gdLst/>
            <a:ahLst/>
            <a:cxnLst/>
            <a:rect r="r" b="b" t="t" l="l"/>
            <a:pathLst>
              <a:path h="10287000" w="10270368">
                <a:moveTo>
                  <a:pt x="0" y="0"/>
                </a:moveTo>
                <a:lnTo>
                  <a:pt x="10270368" y="0"/>
                </a:lnTo>
                <a:lnTo>
                  <a:pt x="1027036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l="0" t="-6669" r="0" b="-2666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0"/>
            <a:ext cx="10270368" cy="10287000"/>
          </a:xfrm>
          <a:custGeom>
            <a:avLst/>
            <a:gdLst/>
            <a:ahLst/>
            <a:cxnLst/>
            <a:rect r="r" b="b" t="t" l="l"/>
            <a:pathLst>
              <a:path h="10287000" w="10270368">
                <a:moveTo>
                  <a:pt x="0" y="0"/>
                </a:moveTo>
                <a:lnTo>
                  <a:pt x="10270368" y="0"/>
                </a:lnTo>
                <a:lnTo>
                  <a:pt x="1027036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l="0" t="-6669" r="0" b="-26669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772507" y="1819134"/>
            <a:ext cx="3801207" cy="3324366"/>
          </a:xfrm>
          <a:custGeom>
            <a:avLst/>
            <a:gdLst/>
            <a:ahLst/>
            <a:cxnLst/>
            <a:rect r="r" b="b" t="t" l="l"/>
            <a:pathLst>
              <a:path h="3324366" w="3801207">
                <a:moveTo>
                  <a:pt x="0" y="0"/>
                </a:moveTo>
                <a:lnTo>
                  <a:pt x="3801207" y="0"/>
                </a:lnTo>
                <a:lnTo>
                  <a:pt x="3801207" y="3324366"/>
                </a:lnTo>
                <a:lnTo>
                  <a:pt x="0" y="33243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598596">
            <a:off x="17344557" y="6825581"/>
            <a:ext cx="3801207" cy="3324366"/>
          </a:xfrm>
          <a:custGeom>
            <a:avLst/>
            <a:gdLst/>
            <a:ahLst/>
            <a:cxnLst/>
            <a:rect r="r" b="b" t="t" l="l"/>
            <a:pathLst>
              <a:path h="3324366" w="3801207">
                <a:moveTo>
                  <a:pt x="0" y="0"/>
                </a:moveTo>
                <a:lnTo>
                  <a:pt x="3801208" y="0"/>
                </a:lnTo>
                <a:lnTo>
                  <a:pt x="3801208" y="3324366"/>
                </a:lnTo>
                <a:lnTo>
                  <a:pt x="0" y="33243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69436" y="1289992"/>
            <a:ext cx="13184402" cy="836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08"/>
              </a:lnSpc>
            </a:pPr>
            <a:r>
              <a:rPr lang="en-US" b="true" sz="6534" spc="-42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Supervisor Agent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369436" y="2389519"/>
            <a:ext cx="14359447" cy="11106000"/>
            <a:chOff x="0" y="0"/>
            <a:chExt cx="3781912" cy="29250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781912" cy="2925037"/>
            </a:xfrm>
            <a:custGeom>
              <a:avLst/>
              <a:gdLst/>
              <a:ahLst/>
              <a:cxnLst/>
              <a:rect r="r" b="b" t="t" l="l"/>
              <a:pathLst>
                <a:path h="2925037" w="3781912">
                  <a:moveTo>
                    <a:pt x="0" y="0"/>
                  </a:moveTo>
                  <a:lnTo>
                    <a:pt x="3781912" y="0"/>
                  </a:lnTo>
                  <a:lnTo>
                    <a:pt x="3781912" y="2925037"/>
                  </a:lnTo>
                  <a:lnTo>
                    <a:pt x="0" y="2925037"/>
                  </a:lnTo>
                  <a:close/>
                </a:path>
              </a:pathLst>
            </a:custGeom>
            <a:gradFill rotWithShape="true">
              <a:gsLst>
                <a:gs pos="0">
                  <a:srgbClr val="050066">
                    <a:alpha val="100000"/>
                  </a:srgbClr>
                </a:gs>
                <a:gs pos="100000">
                  <a:srgbClr val="41065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3781912" cy="2972662"/>
            </a:xfrm>
            <a:prstGeom prst="rect">
              <a:avLst/>
            </a:prstGeom>
          </p:spPr>
          <p:txBody>
            <a:bodyPr anchor="ctr" rtlCol="false" tIns="317500" lIns="317500" bIns="317500" rIns="317500"/>
            <a:lstStyle/>
            <a:p>
              <a:pPr algn="just">
                <a:lnSpc>
                  <a:spcPts val="3991"/>
                </a:lnSpc>
              </a:pP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The 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Supervisor 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A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gent ac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ts as t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h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e bra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i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n of 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t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h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e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 sys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te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m. It in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te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rpr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et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s user intent, creates execution plans, and coordinates all other agents.</a:t>
              </a:r>
            </a:p>
            <a:p>
              <a:pPr algn="just">
                <a:lnSpc>
                  <a:spcPts val="3851"/>
                </a:lnSpc>
              </a:pPr>
            </a:p>
            <a:p>
              <a:pPr algn="just">
                <a:lnSpc>
                  <a:spcPts val="3991"/>
                </a:lnSpc>
              </a:pPr>
              <a:r>
                <a:rPr lang="en-US" b="true" sz="2851" spc="-96">
                  <a:solidFill>
                    <a:srgbClr val="FFFFFF"/>
                  </a:solidFill>
                  <a:latin typeface="Solway Bold"/>
                  <a:ea typeface="Solway Bold"/>
                  <a:cs typeface="Solway Bold"/>
                  <a:sym typeface="Solway Bold"/>
                </a:rPr>
                <a:t>Key Responsibilities:</a:t>
              </a:r>
            </a:p>
            <a:p>
              <a:pPr algn="just">
                <a:lnSpc>
                  <a:spcPts val="3991"/>
                </a:lnSpc>
              </a:pPr>
            </a:p>
            <a:p>
              <a:pPr algn="just" marL="615603" indent="-307802" lvl="1">
                <a:lnSpc>
                  <a:spcPts val="3991"/>
                </a:lnSpc>
                <a:buFont typeface="Arial"/>
                <a:buChar char="•"/>
              </a:pP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Understand user intent</a:t>
              </a:r>
            </a:p>
            <a:p>
              <a:pPr algn="just" marL="615603" indent="-307802" lvl="1">
                <a:lnSpc>
                  <a:spcPts val="3991"/>
                </a:lnSpc>
                <a:buFont typeface="Arial"/>
                <a:buChar char="•"/>
              </a:pP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Convert queries into st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r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u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ctur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ed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 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pl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an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s</a:t>
              </a:r>
            </a:p>
            <a:p>
              <a:pPr algn="just" marL="615603" indent="-307802" lvl="1">
                <a:lnSpc>
                  <a:spcPts val="3991"/>
                </a:lnSpc>
                <a:buFont typeface="Arial"/>
                <a:buChar char="•"/>
              </a:pP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Del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eg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ate tasks to specialized agents</a:t>
              </a:r>
            </a:p>
            <a:p>
              <a:pPr algn="just" marL="615603" indent="-307802" lvl="1">
                <a:lnSpc>
                  <a:spcPts val="3991"/>
                </a:lnSpc>
                <a:buFont typeface="Arial"/>
                <a:buChar char="•"/>
              </a:pP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Int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egrate m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emory and agent outputs</a:t>
              </a:r>
            </a:p>
            <a:p>
              <a:pPr algn="just" marL="615603" indent="-307802" lvl="1">
                <a:lnSpc>
                  <a:spcPts val="3991"/>
                </a:lnSpc>
                <a:buFont typeface="Arial"/>
                <a:buChar char="•"/>
              </a:pP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P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roduce th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e f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inal response</a:t>
              </a:r>
            </a:p>
            <a:p>
              <a:pPr algn="just">
                <a:lnSpc>
                  <a:spcPts val="3991"/>
                </a:lnSpc>
              </a:pPr>
            </a:p>
            <a:p>
              <a:pPr algn="just">
                <a:lnSpc>
                  <a:spcPts val="3991"/>
                </a:lnSpc>
              </a:pP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This controlled planning ensures deterministic and explainable execution.</a:t>
              </a:r>
            </a:p>
            <a:p>
              <a:pPr algn="just">
                <a:lnSpc>
                  <a:spcPts val="3851"/>
                </a:lnSpc>
              </a:pPr>
            </a:p>
            <a:p>
              <a:pPr algn="l">
                <a:lnSpc>
                  <a:spcPts val="3851"/>
                </a:lnSpc>
              </a:pPr>
            </a:p>
            <a:p>
              <a:pPr algn="l">
                <a:lnSpc>
                  <a:spcPts val="3851"/>
                </a:lnSpc>
              </a:pPr>
              <a:r>
                <a:rPr lang="en-US" sz="2751" spc="5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    </a:t>
              </a:r>
            </a:p>
            <a:p>
              <a:pPr algn="l">
                <a:lnSpc>
                  <a:spcPts val="3711"/>
                </a:lnSpc>
              </a:pPr>
            </a:p>
            <a:p>
              <a:pPr algn="l">
                <a:lnSpc>
                  <a:spcPts val="2121"/>
                </a:lnSpc>
              </a:pPr>
            </a:p>
            <a:p>
              <a:pPr algn="l">
                <a:lnSpc>
                  <a:spcPts val="3711"/>
                </a:lnSpc>
              </a:pPr>
            </a:p>
            <a:p>
              <a:pPr algn="l">
                <a:lnSpc>
                  <a:spcPts val="3711"/>
                </a:lnSpc>
              </a:pPr>
            </a:p>
            <a:p>
              <a:pPr algn="l">
                <a:lnSpc>
                  <a:spcPts val="3711"/>
                </a:lnSpc>
              </a:pPr>
            </a:p>
            <a:p>
              <a:pPr algn="l">
                <a:lnSpc>
                  <a:spcPts val="3711"/>
                </a:lnSpc>
              </a:pPr>
            </a:p>
            <a:p>
              <a:pPr algn="l">
                <a:lnSpc>
                  <a:spcPts val="3711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50066">
                <a:alpha val="100000"/>
              </a:srgbClr>
            </a:gs>
            <a:gs pos="100000">
              <a:srgbClr val="410659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26368" y="0"/>
            <a:ext cx="10270368" cy="10287000"/>
          </a:xfrm>
          <a:custGeom>
            <a:avLst/>
            <a:gdLst/>
            <a:ahLst/>
            <a:cxnLst/>
            <a:rect r="r" b="b" t="t" l="l"/>
            <a:pathLst>
              <a:path h="10287000" w="10270368">
                <a:moveTo>
                  <a:pt x="0" y="0"/>
                </a:moveTo>
                <a:lnTo>
                  <a:pt x="10270368" y="0"/>
                </a:lnTo>
                <a:lnTo>
                  <a:pt x="1027036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l="0" t="-6669" r="0" b="-2666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0"/>
            <a:ext cx="10270368" cy="10287000"/>
          </a:xfrm>
          <a:custGeom>
            <a:avLst/>
            <a:gdLst/>
            <a:ahLst/>
            <a:cxnLst/>
            <a:rect r="r" b="b" t="t" l="l"/>
            <a:pathLst>
              <a:path h="10287000" w="10270368">
                <a:moveTo>
                  <a:pt x="0" y="0"/>
                </a:moveTo>
                <a:lnTo>
                  <a:pt x="10270368" y="0"/>
                </a:lnTo>
                <a:lnTo>
                  <a:pt x="1027036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l="0" t="-6669" r="0" b="-26669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39559" y="1651881"/>
            <a:ext cx="12599899" cy="812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6073"/>
              </a:lnSpc>
            </a:pPr>
            <a:r>
              <a:rPr lang="en-US" b="true" sz="6393" spc="-21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Worker Agents and Their Roles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739559" y="3252006"/>
            <a:ext cx="14359447" cy="9591459"/>
            <a:chOff x="0" y="0"/>
            <a:chExt cx="3781912" cy="252614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81912" cy="2526146"/>
            </a:xfrm>
            <a:custGeom>
              <a:avLst/>
              <a:gdLst/>
              <a:ahLst/>
              <a:cxnLst/>
              <a:rect r="r" b="b" t="t" l="l"/>
              <a:pathLst>
                <a:path h="2526146" w="3781912">
                  <a:moveTo>
                    <a:pt x="0" y="0"/>
                  </a:moveTo>
                  <a:lnTo>
                    <a:pt x="3781912" y="0"/>
                  </a:lnTo>
                  <a:lnTo>
                    <a:pt x="3781912" y="2526146"/>
                  </a:lnTo>
                  <a:lnTo>
                    <a:pt x="0" y="2526146"/>
                  </a:lnTo>
                  <a:close/>
                </a:path>
              </a:pathLst>
            </a:custGeom>
            <a:gradFill rotWithShape="true">
              <a:gsLst>
                <a:gs pos="0">
                  <a:srgbClr val="050066">
                    <a:alpha val="100000"/>
                  </a:srgbClr>
                </a:gs>
                <a:gs pos="100000">
                  <a:srgbClr val="41065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3781912" cy="2573771"/>
            </a:xfrm>
            <a:prstGeom prst="rect">
              <a:avLst/>
            </a:prstGeom>
          </p:spPr>
          <p:txBody>
            <a:bodyPr anchor="ctr" rtlCol="false" tIns="317500" lIns="317500" bIns="317500" rIns="317500"/>
            <a:lstStyle/>
            <a:p>
              <a:pPr algn="just">
                <a:lnSpc>
                  <a:spcPts val="3991"/>
                </a:lnSpc>
              </a:pP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To red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uce complexity, responsibilities are di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stributed among specialized agents.</a:t>
              </a:r>
            </a:p>
            <a:p>
              <a:pPr algn="just">
                <a:lnSpc>
                  <a:spcPts val="3851"/>
                </a:lnSpc>
              </a:pPr>
            </a:p>
            <a:p>
              <a:pPr algn="just">
                <a:lnSpc>
                  <a:spcPts val="4131"/>
                </a:lnSpc>
              </a:pPr>
              <a:r>
                <a:rPr lang="en-US" b="true" sz="2951" spc="-100">
                  <a:solidFill>
                    <a:srgbClr val="FFFFFF"/>
                  </a:solidFill>
                  <a:latin typeface="Solway Bold"/>
                  <a:ea typeface="Solway Bold"/>
                  <a:cs typeface="Solway Bold"/>
                  <a:sym typeface="Solway Bold"/>
                </a:rPr>
                <a:t>Agents in the System:</a:t>
              </a:r>
            </a:p>
            <a:p>
              <a:pPr algn="just">
                <a:lnSpc>
                  <a:spcPts val="3851"/>
                </a:lnSpc>
              </a:pPr>
            </a:p>
            <a:p>
              <a:pPr algn="just" marL="615603" indent="-307802" lvl="1">
                <a:lnSpc>
                  <a:spcPts val="3991"/>
                </a:lnSpc>
                <a:buFont typeface="Arial"/>
                <a:buChar char="•"/>
              </a:pP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S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ea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rch Ag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ent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 – Retrieves information from internal or ext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e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rnal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 so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urc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es</a:t>
              </a:r>
            </a:p>
            <a:p>
              <a:pPr algn="just">
                <a:lnSpc>
                  <a:spcPts val="3991"/>
                </a:lnSpc>
              </a:pPr>
            </a:p>
            <a:p>
              <a:pPr algn="just" marL="615603" indent="-307802" lvl="1">
                <a:lnSpc>
                  <a:spcPts val="3991"/>
                </a:lnSpc>
                <a:buFont typeface="Arial"/>
                <a:buChar char="•"/>
              </a:pP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Summa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rizer Agent – Condenses large outputs into con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cis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e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 summ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arie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s</a:t>
              </a:r>
            </a:p>
            <a:p>
              <a:pPr algn="just">
                <a:lnSpc>
                  <a:spcPts val="3991"/>
                </a:lnSpc>
              </a:pPr>
            </a:p>
            <a:p>
              <a:pPr algn="just">
                <a:lnSpc>
                  <a:spcPts val="3991"/>
                </a:lnSpc>
              </a:pP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Each agent focuses on a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 s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ingle responsibility, improving reliability and clarity.</a:t>
              </a:r>
            </a:p>
            <a:p>
              <a:pPr algn="just">
                <a:lnSpc>
                  <a:spcPts val="3851"/>
                </a:lnSpc>
              </a:pPr>
            </a:p>
            <a:p>
              <a:pPr algn="l">
                <a:lnSpc>
                  <a:spcPts val="3851"/>
                </a:lnSpc>
              </a:pPr>
            </a:p>
            <a:p>
              <a:pPr algn="l">
                <a:lnSpc>
                  <a:spcPts val="3851"/>
                </a:lnSpc>
              </a:pPr>
              <a:r>
                <a:rPr lang="en-US" sz="2751" spc="5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    </a:t>
              </a:r>
            </a:p>
            <a:p>
              <a:pPr algn="l">
                <a:lnSpc>
                  <a:spcPts val="3711"/>
                </a:lnSpc>
              </a:pPr>
            </a:p>
            <a:p>
              <a:pPr algn="l">
                <a:lnSpc>
                  <a:spcPts val="2121"/>
                </a:lnSpc>
              </a:pPr>
            </a:p>
            <a:p>
              <a:pPr algn="l">
                <a:lnSpc>
                  <a:spcPts val="3711"/>
                </a:lnSpc>
              </a:pPr>
            </a:p>
            <a:p>
              <a:pPr algn="l">
                <a:lnSpc>
                  <a:spcPts val="3711"/>
                </a:lnSpc>
              </a:pPr>
            </a:p>
            <a:p>
              <a:pPr algn="l">
                <a:lnSpc>
                  <a:spcPts val="3711"/>
                </a:lnSpc>
              </a:pPr>
            </a:p>
            <a:p>
              <a:pPr algn="l">
                <a:lnSpc>
                  <a:spcPts val="3711"/>
                </a:lnSpc>
              </a:pPr>
            </a:p>
            <a:p>
              <a:pPr algn="l">
                <a:lnSpc>
                  <a:spcPts val="3711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036240" y="8889913"/>
            <a:ext cx="1864239" cy="769422"/>
          </a:xfrm>
          <a:custGeom>
            <a:avLst/>
            <a:gdLst/>
            <a:ahLst/>
            <a:cxnLst/>
            <a:rect r="r" b="b" t="t" l="l"/>
            <a:pathLst>
              <a:path h="769422" w="1864239">
                <a:moveTo>
                  <a:pt x="0" y="0"/>
                </a:moveTo>
                <a:lnTo>
                  <a:pt x="1864239" y="0"/>
                </a:lnTo>
                <a:lnTo>
                  <a:pt x="1864239" y="769423"/>
                </a:lnTo>
                <a:lnTo>
                  <a:pt x="0" y="7694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-1300321" y="1477185"/>
            <a:ext cx="2481421" cy="1974569"/>
          </a:xfrm>
          <a:custGeom>
            <a:avLst/>
            <a:gdLst/>
            <a:ahLst/>
            <a:cxnLst/>
            <a:rect r="r" b="b" t="t" l="l"/>
            <a:pathLst>
              <a:path h="1974569" w="2481421">
                <a:moveTo>
                  <a:pt x="2481421" y="1974569"/>
                </a:moveTo>
                <a:lnTo>
                  <a:pt x="0" y="1974569"/>
                </a:lnTo>
                <a:lnTo>
                  <a:pt x="0" y="0"/>
                </a:lnTo>
                <a:lnTo>
                  <a:pt x="2481421" y="0"/>
                </a:lnTo>
                <a:lnTo>
                  <a:pt x="2481421" y="1974569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50066">
                <a:alpha val="100000"/>
              </a:srgbClr>
            </a:gs>
            <a:gs pos="100000">
              <a:srgbClr val="410659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0"/>
            <a:ext cx="10270368" cy="10287000"/>
          </a:xfrm>
          <a:custGeom>
            <a:avLst/>
            <a:gdLst/>
            <a:ahLst/>
            <a:cxnLst/>
            <a:rect r="r" b="b" t="t" l="l"/>
            <a:pathLst>
              <a:path h="10287000" w="10270368">
                <a:moveTo>
                  <a:pt x="0" y="0"/>
                </a:moveTo>
                <a:lnTo>
                  <a:pt x="10270368" y="0"/>
                </a:lnTo>
                <a:lnTo>
                  <a:pt x="1027036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l="0" t="-6669" r="0" b="-2666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126368" y="0"/>
            <a:ext cx="10270368" cy="10287000"/>
          </a:xfrm>
          <a:custGeom>
            <a:avLst/>
            <a:gdLst/>
            <a:ahLst/>
            <a:cxnLst/>
            <a:rect r="r" b="b" t="t" l="l"/>
            <a:pathLst>
              <a:path h="10287000" w="10270368">
                <a:moveTo>
                  <a:pt x="0" y="0"/>
                </a:moveTo>
                <a:lnTo>
                  <a:pt x="10270368" y="0"/>
                </a:lnTo>
                <a:lnTo>
                  <a:pt x="1027036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l="0" t="-6669" r="0" b="-26669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23208" y="1502469"/>
            <a:ext cx="12772466" cy="860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58"/>
              </a:lnSpc>
            </a:pPr>
            <a:r>
              <a:rPr lang="en-US" b="true" sz="6693" spc="-43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Persistent Memory (VFS)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883840" y="8737513"/>
            <a:ext cx="1864239" cy="769422"/>
          </a:xfrm>
          <a:custGeom>
            <a:avLst/>
            <a:gdLst/>
            <a:ahLst/>
            <a:cxnLst/>
            <a:rect r="r" b="b" t="t" l="l"/>
            <a:pathLst>
              <a:path h="769422" w="1864239">
                <a:moveTo>
                  <a:pt x="0" y="0"/>
                </a:moveTo>
                <a:lnTo>
                  <a:pt x="1864239" y="0"/>
                </a:lnTo>
                <a:lnTo>
                  <a:pt x="1864239" y="769423"/>
                </a:lnTo>
                <a:lnTo>
                  <a:pt x="0" y="7694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1240711" y="1649691"/>
            <a:ext cx="2481421" cy="1974569"/>
          </a:xfrm>
          <a:custGeom>
            <a:avLst/>
            <a:gdLst/>
            <a:ahLst/>
            <a:cxnLst/>
            <a:rect r="r" b="b" t="t" l="l"/>
            <a:pathLst>
              <a:path h="1974569" w="2481421">
                <a:moveTo>
                  <a:pt x="2481422" y="1974569"/>
                </a:moveTo>
                <a:lnTo>
                  <a:pt x="0" y="1974569"/>
                </a:lnTo>
                <a:lnTo>
                  <a:pt x="0" y="0"/>
                </a:lnTo>
                <a:lnTo>
                  <a:pt x="2481422" y="0"/>
                </a:lnTo>
                <a:lnTo>
                  <a:pt x="2481422" y="1974569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882552" y="2880066"/>
            <a:ext cx="14359447" cy="10639209"/>
            <a:chOff x="0" y="0"/>
            <a:chExt cx="3781912" cy="280209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781912" cy="2802096"/>
            </a:xfrm>
            <a:custGeom>
              <a:avLst/>
              <a:gdLst/>
              <a:ahLst/>
              <a:cxnLst/>
              <a:rect r="r" b="b" t="t" l="l"/>
              <a:pathLst>
                <a:path h="2802096" w="3781912">
                  <a:moveTo>
                    <a:pt x="0" y="0"/>
                  </a:moveTo>
                  <a:lnTo>
                    <a:pt x="3781912" y="0"/>
                  </a:lnTo>
                  <a:lnTo>
                    <a:pt x="3781912" y="2802096"/>
                  </a:lnTo>
                  <a:lnTo>
                    <a:pt x="0" y="2802096"/>
                  </a:lnTo>
                  <a:close/>
                </a:path>
              </a:pathLst>
            </a:custGeom>
            <a:gradFill rotWithShape="true">
              <a:gsLst>
                <a:gs pos="0">
                  <a:srgbClr val="050066">
                    <a:alpha val="100000"/>
                  </a:srgbClr>
                </a:gs>
                <a:gs pos="100000">
                  <a:srgbClr val="41065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3781912" cy="2849721"/>
            </a:xfrm>
            <a:prstGeom prst="rect">
              <a:avLst/>
            </a:prstGeom>
          </p:spPr>
          <p:txBody>
            <a:bodyPr anchor="ctr" rtlCol="false" tIns="317500" lIns="317500" bIns="317500" rIns="317500"/>
            <a:lstStyle/>
            <a:p>
              <a:pPr algn="just">
                <a:lnSpc>
                  <a:spcPts val="3991"/>
                </a:lnSpc>
              </a:pP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The system 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uses a Virtual File System (VFS) 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to overcome LLM context limitations.</a:t>
              </a:r>
            </a:p>
            <a:p>
              <a:pPr algn="just">
                <a:lnSpc>
                  <a:spcPts val="3851"/>
                </a:lnSpc>
              </a:pPr>
            </a:p>
            <a:p>
              <a:pPr algn="just">
                <a:lnSpc>
                  <a:spcPts val="4131"/>
                </a:lnSpc>
              </a:pPr>
              <a:r>
                <a:rPr lang="en-US" b="true" sz="2951" spc="-100">
                  <a:solidFill>
                    <a:srgbClr val="FFFFFF"/>
                  </a:solidFill>
                  <a:latin typeface="Solway Bold"/>
                  <a:ea typeface="Solway Bold"/>
                  <a:cs typeface="Solway Bold"/>
                  <a:sym typeface="Solway Bold"/>
                </a:rPr>
                <a:t>Memory Capabilities:</a:t>
              </a:r>
            </a:p>
            <a:p>
              <a:pPr algn="just">
                <a:lnSpc>
                  <a:spcPts val="4131"/>
                </a:lnSpc>
              </a:pPr>
            </a:p>
            <a:p>
              <a:pPr algn="just" marL="615603" indent="-307802" lvl="1">
                <a:lnSpc>
                  <a:spcPts val="3991"/>
                </a:lnSpc>
                <a:buFont typeface="Arial"/>
                <a:buChar char="•"/>
              </a:pP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S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to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res conversation history and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 decisions</a:t>
              </a:r>
            </a:p>
            <a:p>
              <a:pPr algn="just">
                <a:lnSpc>
                  <a:spcPts val="3991"/>
                </a:lnSpc>
              </a:pPr>
            </a:p>
            <a:p>
              <a:pPr algn="just" marL="615603" indent="-307802" lvl="1">
                <a:lnSpc>
                  <a:spcPts val="3991"/>
                </a:lnSpc>
                <a:buFont typeface="Arial"/>
                <a:buChar char="•"/>
              </a:pP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Supports read, w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rite, update, and list operation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s</a:t>
              </a:r>
            </a:p>
            <a:p>
              <a:pPr algn="just">
                <a:lnSpc>
                  <a:spcPts val="3991"/>
                </a:lnSpc>
              </a:pPr>
            </a:p>
            <a:p>
              <a:pPr algn="just" marL="615603" indent="-307802" lvl="1">
                <a:lnSpc>
                  <a:spcPts val="3991"/>
                </a:lnSpc>
                <a:buFont typeface="Arial"/>
                <a:buChar char="•"/>
              </a:pP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P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e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rsi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s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ts across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 s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essions</a:t>
              </a:r>
            </a:p>
            <a:p>
              <a:pPr algn="just">
                <a:lnSpc>
                  <a:spcPts val="3991"/>
                </a:lnSpc>
              </a:pPr>
            </a:p>
            <a:p>
              <a:pPr algn="just">
                <a:lnSpc>
                  <a:spcPts val="3991"/>
                </a:lnSpc>
              </a:pP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This enables long-term reasoning and context-aware responses.</a:t>
              </a:r>
            </a:p>
            <a:p>
              <a:pPr algn="just">
                <a:lnSpc>
                  <a:spcPts val="3851"/>
                </a:lnSpc>
              </a:pPr>
            </a:p>
            <a:p>
              <a:pPr algn="l">
                <a:lnSpc>
                  <a:spcPts val="3851"/>
                </a:lnSpc>
              </a:pPr>
            </a:p>
            <a:p>
              <a:pPr algn="l">
                <a:lnSpc>
                  <a:spcPts val="3851"/>
                </a:lnSpc>
              </a:pPr>
              <a:r>
                <a:rPr lang="en-US" sz="2751" spc="5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    </a:t>
              </a:r>
            </a:p>
            <a:p>
              <a:pPr algn="l">
                <a:lnSpc>
                  <a:spcPts val="3711"/>
                </a:lnSpc>
              </a:pPr>
            </a:p>
            <a:p>
              <a:pPr algn="l">
                <a:lnSpc>
                  <a:spcPts val="2121"/>
                </a:lnSpc>
              </a:pPr>
            </a:p>
            <a:p>
              <a:pPr algn="l">
                <a:lnSpc>
                  <a:spcPts val="3711"/>
                </a:lnSpc>
              </a:pPr>
            </a:p>
            <a:p>
              <a:pPr algn="l">
                <a:lnSpc>
                  <a:spcPts val="3711"/>
                </a:lnSpc>
              </a:pPr>
            </a:p>
            <a:p>
              <a:pPr algn="l">
                <a:lnSpc>
                  <a:spcPts val="3711"/>
                </a:lnSpc>
              </a:pPr>
            </a:p>
            <a:p>
              <a:pPr algn="l">
                <a:lnSpc>
                  <a:spcPts val="3711"/>
                </a:lnSpc>
              </a:pPr>
            </a:p>
            <a:p>
              <a:pPr algn="l">
                <a:lnSpc>
                  <a:spcPts val="3711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50066">
                <a:alpha val="100000"/>
              </a:srgbClr>
            </a:gs>
            <a:gs pos="100000">
              <a:srgbClr val="410659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0"/>
            <a:ext cx="10270368" cy="10287000"/>
          </a:xfrm>
          <a:custGeom>
            <a:avLst/>
            <a:gdLst/>
            <a:ahLst/>
            <a:cxnLst/>
            <a:rect r="r" b="b" t="t" l="l"/>
            <a:pathLst>
              <a:path h="10287000" w="10270368">
                <a:moveTo>
                  <a:pt x="0" y="0"/>
                </a:moveTo>
                <a:lnTo>
                  <a:pt x="10270368" y="0"/>
                </a:lnTo>
                <a:lnTo>
                  <a:pt x="1027036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l="0" t="-6669" r="0" b="-2666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126368" y="0"/>
            <a:ext cx="10270368" cy="10287000"/>
          </a:xfrm>
          <a:custGeom>
            <a:avLst/>
            <a:gdLst/>
            <a:ahLst/>
            <a:cxnLst/>
            <a:rect r="r" b="b" t="t" l="l"/>
            <a:pathLst>
              <a:path h="10287000" w="10270368">
                <a:moveTo>
                  <a:pt x="0" y="0"/>
                </a:moveTo>
                <a:lnTo>
                  <a:pt x="10270368" y="0"/>
                </a:lnTo>
                <a:lnTo>
                  <a:pt x="1027036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l="0" t="-6669" r="0" b="-26669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64528" y="1674045"/>
            <a:ext cx="8265598" cy="861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98"/>
              </a:lnSpc>
            </a:pPr>
            <a:r>
              <a:rPr lang="en-US" b="true" sz="6734" spc="-43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Tools Layer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764528" y="3081829"/>
            <a:ext cx="14359447" cy="10253577"/>
            <a:chOff x="0" y="0"/>
            <a:chExt cx="3781912" cy="27005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81912" cy="2700531"/>
            </a:xfrm>
            <a:custGeom>
              <a:avLst/>
              <a:gdLst/>
              <a:ahLst/>
              <a:cxnLst/>
              <a:rect r="r" b="b" t="t" l="l"/>
              <a:pathLst>
                <a:path h="2700531" w="3781912">
                  <a:moveTo>
                    <a:pt x="0" y="0"/>
                  </a:moveTo>
                  <a:lnTo>
                    <a:pt x="3781912" y="0"/>
                  </a:lnTo>
                  <a:lnTo>
                    <a:pt x="3781912" y="2700531"/>
                  </a:lnTo>
                  <a:lnTo>
                    <a:pt x="0" y="2700531"/>
                  </a:lnTo>
                  <a:close/>
                </a:path>
              </a:pathLst>
            </a:custGeom>
            <a:gradFill rotWithShape="true">
              <a:gsLst>
                <a:gs pos="0">
                  <a:srgbClr val="050066">
                    <a:alpha val="100000"/>
                  </a:srgbClr>
                </a:gs>
                <a:gs pos="100000">
                  <a:srgbClr val="41065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3781912" cy="2729106"/>
            </a:xfrm>
            <a:prstGeom prst="rect">
              <a:avLst/>
            </a:prstGeom>
          </p:spPr>
          <p:txBody>
            <a:bodyPr anchor="ctr" rtlCol="false" tIns="266700" lIns="266700" bIns="266700" rIns="266700"/>
            <a:lstStyle/>
            <a:p>
              <a:pPr algn="just">
                <a:lnSpc>
                  <a:spcPts val="3763"/>
                </a:lnSpc>
              </a:pPr>
              <a:r>
                <a:rPr lang="en-US" sz="2851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Agent</a:t>
              </a:r>
              <a:r>
                <a:rPr lang="en-US" sz="2851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s do not directly </a:t>
              </a:r>
              <a:r>
                <a:rPr lang="en-US" sz="2851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execute actions.</a:t>
              </a:r>
              <a:r>
                <a:rPr lang="en-US" sz="2851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 </a:t>
              </a:r>
              <a:r>
                <a:rPr lang="en-US" sz="2851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Inste</a:t>
              </a:r>
              <a:r>
                <a:rPr lang="en-US" sz="2851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a</a:t>
              </a:r>
              <a:r>
                <a:rPr lang="en-US" sz="2851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d, </a:t>
              </a:r>
              <a:r>
                <a:rPr lang="en-US" sz="2851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t</a:t>
              </a:r>
              <a:r>
                <a:rPr lang="en-US" sz="2851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h</a:t>
              </a:r>
              <a:r>
                <a:rPr lang="en-US" sz="2851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e</a:t>
              </a:r>
              <a:r>
                <a:rPr lang="en-US" sz="2851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y u</a:t>
              </a:r>
              <a:r>
                <a:rPr lang="en-US" sz="2851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s</a:t>
              </a:r>
              <a:r>
                <a:rPr lang="en-US" sz="2851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e </a:t>
              </a:r>
              <a:r>
                <a:rPr lang="en-US" sz="2851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tool</a:t>
              </a:r>
              <a:r>
                <a:rPr lang="en-US" sz="2851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s like web_search and summarize_text.These are the tools I used in this project.</a:t>
              </a:r>
            </a:p>
            <a:p>
              <a:pPr algn="just">
                <a:lnSpc>
                  <a:spcPts val="3631"/>
                </a:lnSpc>
              </a:pPr>
            </a:p>
            <a:p>
              <a:pPr algn="just">
                <a:lnSpc>
                  <a:spcPts val="3895"/>
                </a:lnSpc>
              </a:pPr>
              <a:r>
                <a:rPr lang="en-US" sz="2951" b="true">
                  <a:solidFill>
                    <a:srgbClr val="FFFFFF"/>
                  </a:solidFill>
                  <a:latin typeface="Solway Bold"/>
                  <a:ea typeface="Solway Bold"/>
                  <a:cs typeface="Solway Bold"/>
                  <a:sym typeface="Solway Bold"/>
                </a:rPr>
                <a:t>Why Tools Matter:</a:t>
              </a:r>
            </a:p>
            <a:p>
              <a:pPr algn="just">
                <a:lnSpc>
                  <a:spcPts val="3895"/>
                </a:lnSpc>
              </a:pPr>
            </a:p>
            <a:p>
              <a:pPr algn="just" marL="615603" indent="-307802" lvl="1">
                <a:lnSpc>
                  <a:spcPts val="3763"/>
                </a:lnSpc>
                <a:buFont typeface="Arial"/>
                <a:buChar char="•"/>
              </a:pPr>
              <a:r>
                <a:rPr lang="en-US" sz="2851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Im</a:t>
              </a:r>
              <a:r>
                <a:rPr lang="en-US" sz="2851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proves system safety</a:t>
              </a:r>
            </a:p>
            <a:p>
              <a:pPr algn="just" marL="615603" indent="-307802" lvl="1">
                <a:lnSpc>
                  <a:spcPts val="3763"/>
                </a:lnSpc>
                <a:buFont typeface="Arial"/>
                <a:buChar char="•"/>
              </a:pPr>
              <a:r>
                <a:rPr lang="en-US" sz="2851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Keeps agent logic clean</a:t>
              </a:r>
            </a:p>
            <a:p>
              <a:pPr algn="just" marL="615603" indent="-307802" lvl="1">
                <a:lnSpc>
                  <a:spcPts val="3763"/>
                </a:lnSpc>
                <a:buFont typeface="Arial"/>
                <a:buChar char="•"/>
              </a:pPr>
              <a:r>
                <a:rPr lang="en-US" sz="2851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Enabl</a:t>
              </a:r>
              <a:r>
                <a:rPr lang="en-US" sz="2851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e</a:t>
              </a:r>
              <a:r>
                <a:rPr lang="en-US" sz="2851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s easy</a:t>
              </a:r>
              <a:r>
                <a:rPr lang="en-US" sz="2851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 ext</a:t>
              </a:r>
              <a:r>
                <a:rPr lang="en-US" sz="2851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ension</a:t>
              </a:r>
            </a:p>
            <a:p>
              <a:pPr algn="just">
                <a:lnSpc>
                  <a:spcPts val="3763"/>
                </a:lnSpc>
              </a:pPr>
            </a:p>
            <a:p>
              <a:pPr algn="just">
                <a:lnSpc>
                  <a:spcPts val="3763"/>
                </a:lnSpc>
              </a:pPr>
              <a:r>
                <a:rPr lang="en-US" sz="2851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The agent decides what to do, while tools handle how it is done.</a:t>
              </a:r>
            </a:p>
            <a:p>
              <a:pPr algn="just">
                <a:lnSpc>
                  <a:spcPts val="3851"/>
                </a:lnSpc>
              </a:pPr>
            </a:p>
            <a:p>
              <a:pPr algn="just">
                <a:lnSpc>
                  <a:spcPts val="3851"/>
                </a:lnSpc>
              </a:pPr>
            </a:p>
            <a:p>
              <a:pPr algn="l">
                <a:lnSpc>
                  <a:spcPts val="3851"/>
                </a:lnSpc>
              </a:pPr>
            </a:p>
            <a:p>
              <a:pPr algn="l">
                <a:lnSpc>
                  <a:spcPts val="3851"/>
                </a:lnSpc>
              </a:pPr>
              <a:r>
                <a:rPr lang="en-US" sz="2751" spc="5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    </a:t>
              </a:r>
            </a:p>
            <a:p>
              <a:pPr algn="l">
                <a:lnSpc>
                  <a:spcPts val="3711"/>
                </a:lnSpc>
              </a:pPr>
            </a:p>
            <a:p>
              <a:pPr algn="l">
                <a:lnSpc>
                  <a:spcPts val="2121"/>
                </a:lnSpc>
              </a:pPr>
            </a:p>
            <a:p>
              <a:pPr algn="l">
                <a:lnSpc>
                  <a:spcPts val="3711"/>
                </a:lnSpc>
              </a:pPr>
            </a:p>
            <a:p>
              <a:pPr algn="l">
                <a:lnSpc>
                  <a:spcPts val="3711"/>
                </a:lnSpc>
              </a:pPr>
            </a:p>
            <a:p>
              <a:pPr algn="l">
                <a:lnSpc>
                  <a:spcPts val="3711"/>
                </a:lnSpc>
              </a:pPr>
            </a:p>
            <a:p>
              <a:pPr algn="l">
                <a:lnSpc>
                  <a:spcPts val="3711"/>
                </a:lnSpc>
              </a:pPr>
            </a:p>
            <a:p>
              <a:pPr algn="l">
                <a:lnSpc>
                  <a:spcPts val="3711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true" rot="0">
            <a:off x="-1126368" y="-462449"/>
            <a:ext cx="2481421" cy="1974569"/>
          </a:xfrm>
          <a:custGeom>
            <a:avLst/>
            <a:gdLst/>
            <a:ahLst/>
            <a:cxnLst/>
            <a:rect r="r" b="b" t="t" l="l"/>
            <a:pathLst>
              <a:path h="1974569" w="2481421">
                <a:moveTo>
                  <a:pt x="2481421" y="1974569"/>
                </a:moveTo>
                <a:lnTo>
                  <a:pt x="0" y="1974569"/>
                </a:lnTo>
                <a:lnTo>
                  <a:pt x="0" y="0"/>
                </a:lnTo>
                <a:lnTo>
                  <a:pt x="2481421" y="0"/>
                </a:lnTo>
                <a:lnTo>
                  <a:pt x="2481421" y="1974569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767348" y="7649127"/>
            <a:ext cx="1864239" cy="769422"/>
          </a:xfrm>
          <a:custGeom>
            <a:avLst/>
            <a:gdLst/>
            <a:ahLst/>
            <a:cxnLst/>
            <a:rect r="r" b="b" t="t" l="l"/>
            <a:pathLst>
              <a:path h="769422" w="1864239">
                <a:moveTo>
                  <a:pt x="0" y="0"/>
                </a:moveTo>
                <a:lnTo>
                  <a:pt x="1864239" y="0"/>
                </a:lnTo>
                <a:lnTo>
                  <a:pt x="1864239" y="769422"/>
                </a:lnTo>
                <a:lnTo>
                  <a:pt x="0" y="7694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50066">
                <a:alpha val="100000"/>
              </a:srgbClr>
            </a:gs>
            <a:gs pos="100000">
              <a:srgbClr val="410659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0"/>
            <a:ext cx="10270368" cy="10287000"/>
          </a:xfrm>
          <a:custGeom>
            <a:avLst/>
            <a:gdLst/>
            <a:ahLst/>
            <a:cxnLst/>
            <a:rect r="r" b="b" t="t" l="l"/>
            <a:pathLst>
              <a:path h="10287000" w="10270368">
                <a:moveTo>
                  <a:pt x="0" y="0"/>
                </a:moveTo>
                <a:lnTo>
                  <a:pt x="10270368" y="0"/>
                </a:lnTo>
                <a:lnTo>
                  <a:pt x="1027036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l="0" t="-6669" r="0" b="-2666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976557" y="0"/>
            <a:ext cx="10270368" cy="10287000"/>
          </a:xfrm>
          <a:custGeom>
            <a:avLst/>
            <a:gdLst/>
            <a:ahLst/>
            <a:cxnLst/>
            <a:rect r="r" b="b" t="t" l="l"/>
            <a:pathLst>
              <a:path h="10287000" w="10270368">
                <a:moveTo>
                  <a:pt x="0" y="0"/>
                </a:moveTo>
                <a:lnTo>
                  <a:pt x="10270368" y="0"/>
                </a:lnTo>
                <a:lnTo>
                  <a:pt x="1027036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l="0" t="-6669" r="0" b="-26669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355880" y="2214928"/>
            <a:ext cx="1864239" cy="769422"/>
          </a:xfrm>
          <a:custGeom>
            <a:avLst/>
            <a:gdLst/>
            <a:ahLst/>
            <a:cxnLst/>
            <a:rect r="r" b="b" t="t" l="l"/>
            <a:pathLst>
              <a:path h="769422" w="1864239">
                <a:moveTo>
                  <a:pt x="0" y="0"/>
                </a:moveTo>
                <a:lnTo>
                  <a:pt x="1864240" y="0"/>
                </a:lnTo>
                <a:lnTo>
                  <a:pt x="1864240" y="769422"/>
                </a:lnTo>
                <a:lnTo>
                  <a:pt x="0" y="7694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-1481296" y="5398331"/>
            <a:ext cx="2481421" cy="1974569"/>
          </a:xfrm>
          <a:custGeom>
            <a:avLst/>
            <a:gdLst/>
            <a:ahLst/>
            <a:cxnLst/>
            <a:rect r="r" b="b" t="t" l="l"/>
            <a:pathLst>
              <a:path h="1974569" w="2481421">
                <a:moveTo>
                  <a:pt x="2481421" y="1974570"/>
                </a:moveTo>
                <a:lnTo>
                  <a:pt x="0" y="1974570"/>
                </a:lnTo>
                <a:lnTo>
                  <a:pt x="0" y="0"/>
                </a:lnTo>
                <a:lnTo>
                  <a:pt x="2481421" y="0"/>
                </a:lnTo>
                <a:lnTo>
                  <a:pt x="2481421" y="197457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1589597"/>
            <a:ext cx="14359447" cy="13519280"/>
            <a:chOff x="0" y="0"/>
            <a:chExt cx="3781912" cy="35606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781912" cy="3560633"/>
            </a:xfrm>
            <a:custGeom>
              <a:avLst/>
              <a:gdLst/>
              <a:ahLst/>
              <a:cxnLst/>
              <a:rect r="r" b="b" t="t" l="l"/>
              <a:pathLst>
                <a:path h="3560633" w="3781912">
                  <a:moveTo>
                    <a:pt x="0" y="0"/>
                  </a:moveTo>
                  <a:lnTo>
                    <a:pt x="3781912" y="0"/>
                  </a:lnTo>
                  <a:lnTo>
                    <a:pt x="3781912" y="3560633"/>
                  </a:lnTo>
                  <a:lnTo>
                    <a:pt x="0" y="3560633"/>
                  </a:lnTo>
                  <a:close/>
                </a:path>
              </a:pathLst>
            </a:custGeom>
            <a:gradFill rotWithShape="true">
              <a:gsLst>
                <a:gs pos="0">
                  <a:srgbClr val="050066">
                    <a:alpha val="100000"/>
                  </a:srgbClr>
                </a:gs>
                <a:gs pos="100000">
                  <a:srgbClr val="41065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04775"/>
              <a:ext cx="3781912" cy="3665408"/>
            </a:xfrm>
            <a:prstGeom prst="rect">
              <a:avLst/>
            </a:prstGeom>
          </p:spPr>
          <p:txBody>
            <a:bodyPr anchor="ctr" rtlCol="false" tIns="317500" lIns="317500" bIns="317500" rIns="317500"/>
            <a:lstStyle/>
            <a:p>
              <a:pPr algn="just">
                <a:lnSpc>
                  <a:spcPts val="4533"/>
                </a:lnSpc>
              </a:pP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The system follow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s a structured 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execution pipeline:</a:t>
              </a:r>
            </a:p>
            <a:p>
              <a:pPr algn="just">
                <a:lnSpc>
                  <a:spcPts val="4533"/>
                </a:lnSpc>
              </a:pPr>
            </a:p>
            <a:p>
              <a:pPr algn="just" marL="615603" indent="-307802" lvl="1">
                <a:lnSpc>
                  <a:spcPts val="4533"/>
                </a:lnSpc>
                <a:buAutoNum type="arabicPeriod" startAt="1"/>
              </a:pP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User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 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submits 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a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 qu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er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y to the system.</a:t>
              </a:r>
            </a:p>
            <a:p>
              <a:pPr algn="just" marL="615603" indent="-307802" lvl="1">
                <a:lnSpc>
                  <a:spcPts val="4533"/>
                </a:lnSpc>
                <a:buAutoNum type="arabicPeriod" startAt="1"/>
              </a:pP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Supervi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sor Agent interprets the request and </a:t>
              </a:r>
            </a:p>
            <a:p>
              <a:pPr algn="just">
                <a:lnSpc>
                  <a:spcPts val="4533"/>
                </a:lnSpc>
              </a:pP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       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cr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eates a structured 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ta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sk plan.</a:t>
              </a:r>
            </a:p>
            <a:p>
              <a:pPr algn="just">
                <a:lnSpc>
                  <a:spcPts val="4533"/>
                </a:lnSpc>
              </a:pP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   3.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Search Agent retrieves relevant information as </a:t>
              </a:r>
            </a:p>
            <a:p>
              <a:pPr algn="just">
                <a:lnSpc>
                  <a:spcPts val="4533"/>
                </a:lnSpc>
              </a:pP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        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required using the web_search tool.</a:t>
              </a:r>
            </a:p>
            <a:p>
              <a:pPr algn="just">
                <a:lnSpc>
                  <a:spcPts val="4533"/>
                </a:lnSpc>
              </a:pP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   4.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Supervisor performs reasoning using retrieved</a:t>
              </a:r>
            </a:p>
            <a:p>
              <a:pPr algn="just">
                <a:lnSpc>
                  <a:spcPts val="4533"/>
                </a:lnSpc>
              </a:pP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       data and persistent memor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y.</a:t>
              </a:r>
            </a:p>
            <a:p>
              <a:pPr algn="just">
                <a:lnSpc>
                  <a:spcPts val="4533"/>
                </a:lnSpc>
              </a:pPr>
              <a:r>
                <a:rPr lang="en-US" b="true" sz="2851" spc="-96">
                  <a:solidFill>
                    <a:srgbClr val="FFFFFF"/>
                  </a:solidFill>
                  <a:latin typeface="Solway Bold"/>
                  <a:ea typeface="Solway Bold"/>
                  <a:cs typeface="Solway Bold"/>
                  <a:sym typeface="Solway Bold"/>
                </a:rPr>
                <a:t>   5.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Summ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a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riz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er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 Agent co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m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press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es the generated</a:t>
              </a:r>
            </a:p>
            <a:p>
              <a:pPr algn="just">
                <a:lnSpc>
                  <a:spcPts val="4533"/>
                </a:lnSpc>
              </a:pP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       output using the summarize_text tool.</a:t>
              </a:r>
            </a:p>
            <a:p>
              <a:pPr algn="just">
                <a:lnSpc>
                  <a:spcPts val="4533"/>
                </a:lnSpc>
              </a:pP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   6.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System updates m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emory with latest interaction.</a:t>
              </a:r>
            </a:p>
            <a:p>
              <a:pPr algn="just">
                <a:lnSpc>
                  <a:spcPts val="4533"/>
                </a:lnSpc>
              </a:pP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   7.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Final, refined r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e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sponse is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 d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elivered to the user.</a:t>
              </a:r>
            </a:p>
            <a:p>
              <a:pPr algn="just">
                <a:lnSpc>
                  <a:spcPts val="4533"/>
                </a:lnSpc>
              </a:pPr>
            </a:p>
            <a:p>
              <a:pPr algn="just">
                <a:lnSpc>
                  <a:spcPts val="3851"/>
                </a:lnSpc>
              </a:pPr>
            </a:p>
            <a:p>
              <a:pPr algn="just">
                <a:lnSpc>
                  <a:spcPts val="3851"/>
                </a:lnSpc>
              </a:pPr>
            </a:p>
            <a:p>
              <a:pPr algn="l">
                <a:lnSpc>
                  <a:spcPts val="3851"/>
                </a:lnSpc>
              </a:pPr>
            </a:p>
            <a:p>
              <a:pPr algn="l">
                <a:lnSpc>
                  <a:spcPts val="3851"/>
                </a:lnSpc>
              </a:pPr>
              <a:r>
                <a:rPr lang="en-US" sz="2751" spc="5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    </a:t>
              </a:r>
            </a:p>
            <a:p>
              <a:pPr algn="l">
                <a:lnSpc>
                  <a:spcPts val="3711"/>
                </a:lnSpc>
              </a:pPr>
            </a:p>
            <a:p>
              <a:pPr algn="l">
                <a:lnSpc>
                  <a:spcPts val="2121"/>
                </a:lnSpc>
              </a:pPr>
            </a:p>
            <a:p>
              <a:pPr algn="l">
                <a:lnSpc>
                  <a:spcPts val="3711"/>
                </a:lnSpc>
              </a:pPr>
            </a:p>
            <a:p>
              <a:pPr algn="l">
                <a:lnSpc>
                  <a:spcPts val="3711"/>
                </a:lnSpc>
              </a:pPr>
            </a:p>
            <a:p>
              <a:pPr algn="l">
                <a:lnSpc>
                  <a:spcPts val="3711"/>
                </a:lnSpc>
              </a:pPr>
            </a:p>
            <a:p>
              <a:pPr algn="l">
                <a:lnSpc>
                  <a:spcPts val="3711"/>
                </a:lnSpc>
              </a:pPr>
            </a:p>
            <a:p>
              <a:pPr algn="l">
                <a:lnSpc>
                  <a:spcPts val="3711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261826" y="1789345"/>
            <a:ext cx="7094054" cy="7668703"/>
          </a:xfrm>
          <a:custGeom>
            <a:avLst/>
            <a:gdLst/>
            <a:ahLst/>
            <a:cxnLst/>
            <a:rect r="r" b="b" t="t" l="l"/>
            <a:pathLst>
              <a:path h="7668703" w="7094054">
                <a:moveTo>
                  <a:pt x="0" y="0"/>
                </a:moveTo>
                <a:lnTo>
                  <a:pt x="7094054" y="0"/>
                </a:lnTo>
                <a:lnTo>
                  <a:pt x="7094054" y="7668703"/>
                </a:lnTo>
                <a:lnTo>
                  <a:pt x="0" y="76687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039" t="0" r="-9224" b="-7551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291196" y="540178"/>
            <a:ext cx="12421077" cy="1049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8369"/>
              </a:lnSpc>
            </a:pPr>
            <a:r>
              <a:rPr lang="en-US" b="true" sz="6860" spc="-44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End-to-End Workflow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50066">
                <a:alpha val="100000"/>
              </a:srgbClr>
            </a:gs>
            <a:gs pos="100000">
              <a:srgbClr val="410659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24157" y="152400"/>
            <a:ext cx="10270368" cy="10287000"/>
          </a:xfrm>
          <a:custGeom>
            <a:avLst/>
            <a:gdLst/>
            <a:ahLst/>
            <a:cxnLst/>
            <a:rect r="r" b="b" t="t" l="l"/>
            <a:pathLst>
              <a:path h="10287000" w="10270368">
                <a:moveTo>
                  <a:pt x="0" y="0"/>
                </a:moveTo>
                <a:lnTo>
                  <a:pt x="10270368" y="0"/>
                </a:lnTo>
                <a:lnTo>
                  <a:pt x="1027036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l="0" t="-6669" r="0" b="-2666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017632" y="0"/>
            <a:ext cx="10270368" cy="10287000"/>
          </a:xfrm>
          <a:custGeom>
            <a:avLst/>
            <a:gdLst/>
            <a:ahLst/>
            <a:cxnLst/>
            <a:rect r="r" b="b" t="t" l="l"/>
            <a:pathLst>
              <a:path h="10287000" w="10270368">
                <a:moveTo>
                  <a:pt x="0" y="0"/>
                </a:moveTo>
                <a:lnTo>
                  <a:pt x="10270368" y="0"/>
                </a:lnTo>
                <a:lnTo>
                  <a:pt x="1027036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l="0" t="-6669" r="0" b="-26669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1328896" y="5550731"/>
            <a:ext cx="2481421" cy="1974569"/>
          </a:xfrm>
          <a:custGeom>
            <a:avLst/>
            <a:gdLst/>
            <a:ahLst/>
            <a:cxnLst/>
            <a:rect r="r" b="b" t="t" l="l"/>
            <a:pathLst>
              <a:path h="1974569" w="2481421">
                <a:moveTo>
                  <a:pt x="2481421" y="1974570"/>
                </a:moveTo>
                <a:lnTo>
                  <a:pt x="0" y="1974570"/>
                </a:lnTo>
                <a:lnTo>
                  <a:pt x="0" y="0"/>
                </a:lnTo>
                <a:lnTo>
                  <a:pt x="2481421" y="0"/>
                </a:lnTo>
                <a:lnTo>
                  <a:pt x="2481421" y="197457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508280" y="2367328"/>
            <a:ext cx="1864239" cy="769422"/>
          </a:xfrm>
          <a:custGeom>
            <a:avLst/>
            <a:gdLst/>
            <a:ahLst/>
            <a:cxnLst/>
            <a:rect r="r" b="b" t="t" l="l"/>
            <a:pathLst>
              <a:path h="769422" w="1864239">
                <a:moveTo>
                  <a:pt x="0" y="0"/>
                </a:moveTo>
                <a:lnTo>
                  <a:pt x="1864240" y="0"/>
                </a:lnTo>
                <a:lnTo>
                  <a:pt x="1864240" y="769422"/>
                </a:lnTo>
                <a:lnTo>
                  <a:pt x="0" y="7694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980058" y="2752039"/>
            <a:ext cx="13683879" cy="6506261"/>
          </a:xfrm>
          <a:custGeom>
            <a:avLst/>
            <a:gdLst/>
            <a:ahLst/>
            <a:cxnLst/>
            <a:rect r="r" b="b" t="t" l="l"/>
            <a:pathLst>
              <a:path h="6506261" w="13683879">
                <a:moveTo>
                  <a:pt x="0" y="0"/>
                </a:moveTo>
                <a:lnTo>
                  <a:pt x="13683879" y="0"/>
                </a:lnTo>
                <a:lnTo>
                  <a:pt x="13683879" y="6506261"/>
                </a:lnTo>
                <a:lnTo>
                  <a:pt x="0" y="65062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027" t="-920" r="-1027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7093" y="1019175"/>
            <a:ext cx="12421077" cy="1049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8369"/>
              </a:lnSpc>
            </a:pPr>
            <a:r>
              <a:rPr lang="en-US" b="true" sz="6860" spc="-44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User Interface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50066">
                <a:alpha val="100000"/>
              </a:srgbClr>
            </a:gs>
            <a:gs pos="100000">
              <a:srgbClr val="410659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170032" y="0"/>
            <a:ext cx="10270368" cy="10287000"/>
          </a:xfrm>
          <a:custGeom>
            <a:avLst/>
            <a:gdLst/>
            <a:ahLst/>
            <a:cxnLst/>
            <a:rect r="r" b="b" t="t" l="l"/>
            <a:pathLst>
              <a:path h="10287000" w="10270368">
                <a:moveTo>
                  <a:pt x="0" y="0"/>
                </a:moveTo>
                <a:lnTo>
                  <a:pt x="10270368" y="0"/>
                </a:lnTo>
                <a:lnTo>
                  <a:pt x="1027036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l="0" t="-6669" r="0" b="-2666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741150" y="152400"/>
            <a:ext cx="10270368" cy="10287000"/>
          </a:xfrm>
          <a:custGeom>
            <a:avLst/>
            <a:gdLst/>
            <a:ahLst/>
            <a:cxnLst/>
            <a:rect r="r" b="b" t="t" l="l"/>
            <a:pathLst>
              <a:path h="10287000" w="10270368">
                <a:moveTo>
                  <a:pt x="0" y="0"/>
                </a:moveTo>
                <a:lnTo>
                  <a:pt x="10270368" y="0"/>
                </a:lnTo>
                <a:lnTo>
                  <a:pt x="1027036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l="0" t="-6669" r="0" b="-26669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76948" y="1218923"/>
            <a:ext cx="12421077" cy="1049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8369"/>
              </a:lnSpc>
            </a:pPr>
            <a:r>
              <a:rPr lang="en-US" b="true" sz="6860" spc="-44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LangSmith Trace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277199" y="2605574"/>
            <a:ext cx="9142299" cy="11813107"/>
            <a:chOff x="0" y="0"/>
            <a:chExt cx="2407848" cy="31112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07848" cy="3111271"/>
            </a:xfrm>
            <a:custGeom>
              <a:avLst/>
              <a:gdLst/>
              <a:ahLst/>
              <a:cxnLst/>
              <a:rect r="r" b="b" t="t" l="l"/>
              <a:pathLst>
                <a:path h="3111271" w="2407848">
                  <a:moveTo>
                    <a:pt x="0" y="0"/>
                  </a:moveTo>
                  <a:lnTo>
                    <a:pt x="2407848" y="0"/>
                  </a:lnTo>
                  <a:lnTo>
                    <a:pt x="2407848" y="3111271"/>
                  </a:lnTo>
                  <a:lnTo>
                    <a:pt x="0" y="3111271"/>
                  </a:lnTo>
                  <a:close/>
                </a:path>
              </a:pathLst>
            </a:custGeom>
            <a:gradFill rotWithShape="true">
              <a:gsLst>
                <a:gs pos="0">
                  <a:srgbClr val="050066">
                    <a:alpha val="100000"/>
                  </a:srgbClr>
                </a:gs>
                <a:gs pos="100000">
                  <a:srgbClr val="41065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407848" cy="3139846"/>
            </a:xfrm>
            <a:prstGeom prst="rect">
              <a:avLst/>
            </a:prstGeom>
          </p:spPr>
          <p:txBody>
            <a:bodyPr anchor="ctr" rtlCol="false" tIns="317500" lIns="317500" bIns="317500" rIns="317500"/>
            <a:lstStyle/>
            <a:p>
              <a:pPr algn="just">
                <a:lnSpc>
                  <a:spcPts val="3807"/>
                </a:lnSpc>
              </a:pPr>
              <a:r>
                <a:rPr lang="en-US" sz="2951" spc="-10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The system us</a:t>
              </a:r>
              <a:r>
                <a:rPr lang="en-US" sz="2951" spc="-10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es L</a:t>
              </a:r>
              <a:r>
                <a:rPr lang="en-US" sz="2951" spc="-10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ang</a:t>
              </a:r>
              <a:r>
                <a:rPr lang="en-US" sz="2951" spc="-10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Smith tracing </a:t>
              </a:r>
              <a:r>
                <a:rPr lang="en-US" sz="2951" spc="-10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t</a:t>
              </a:r>
              <a:r>
                <a:rPr lang="en-US" sz="2951" spc="-10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o visual</a:t>
              </a:r>
              <a:r>
                <a:rPr lang="en-US" sz="2951" spc="-10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ize and moni</a:t>
              </a:r>
              <a:r>
                <a:rPr lang="en-US" sz="2951" spc="-10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tor the c</a:t>
              </a:r>
              <a:r>
                <a:rPr lang="en-US" sz="2951" spc="-10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omplete agent exec</a:t>
              </a:r>
              <a:r>
                <a:rPr lang="en-US" sz="2951" spc="-10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ution </a:t>
              </a:r>
              <a:r>
                <a:rPr lang="en-US" sz="2951" spc="-10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f</a:t>
              </a:r>
              <a:r>
                <a:rPr lang="en-US" sz="2951" spc="-10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l</a:t>
              </a:r>
              <a:r>
                <a:rPr lang="en-US" sz="2951" spc="-10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ow.</a:t>
              </a:r>
            </a:p>
            <a:p>
              <a:pPr algn="just">
                <a:lnSpc>
                  <a:spcPts val="3678"/>
                </a:lnSpc>
              </a:pPr>
            </a:p>
            <a:p>
              <a:pPr algn="just">
                <a:lnSpc>
                  <a:spcPts val="3936"/>
                </a:lnSpc>
              </a:pPr>
              <a:r>
                <a:rPr lang="en-US" b="true" sz="3051" spc="-103">
                  <a:solidFill>
                    <a:srgbClr val="FFFFFF"/>
                  </a:solidFill>
                  <a:latin typeface="Solway Bold"/>
                  <a:ea typeface="Solway Bold"/>
                  <a:cs typeface="Solway Bold"/>
                  <a:sym typeface="Solway Bold"/>
                </a:rPr>
                <a:t>Trace Highlights:</a:t>
              </a:r>
            </a:p>
            <a:p>
              <a:pPr algn="just">
                <a:lnSpc>
                  <a:spcPts val="3678"/>
                </a:lnSpc>
              </a:pPr>
            </a:p>
            <a:p>
              <a:pPr algn="just" marL="637193" indent="-318596" lvl="1">
                <a:lnSpc>
                  <a:spcPts val="3807"/>
                </a:lnSpc>
                <a:buFont typeface="Arial"/>
                <a:buChar char="•"/>
              </a:pPr>
              <a:r>
                <a:rPr lang="en-US" sz="2951" spc="-10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Sup</a:t>
              </a:r>
              <a:r>
                <a:rPr lang="en-US" sz="2951" spc="-10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ervisor p</a:t>
              </a:r>
              <a:r>
                <a:rPr lang="en-US" sz="2951" spc="-10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l</a:t>
              </a:r>
              <a:r>
                <a:rPr lang="en-US" sz="2951" spc="-10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ann</a:t>
              </a:r>
              <a:r>
                <a:rPr lang="en-US" sz="2951" spc="-10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ing and ag</a:t>
              </a:r>
              <a:r>
                <a:rPr lang="en-US" sz="2951" spc="-10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ent d</a:t>
              </a:r>
              <a:r>
                <a:rPr lang="en-US" sz="2951" spc="-10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el</a:t>
              </a:r>
              <a:r>
                <a:rPr lang="en-US" sz="2951" spc="-10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egation</a:t>
              </a:r>
            </a:p>
            <a:p>
              <a:pPr algn="just" marL="637193" indent="-318596" lvl="1">
                <a:lnSpc>
                  <a:spcPts val="3807"/>
                </a:lnSpc>
                <a:buFont typeface="Arial"/>
                <a:buChar char="•"/>
              </a:pPr>
              <a:r>
                <a:rPr lang="en-US" sz="2951" spc="-10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Tool usage and mem</a:t>
              </a:r>
              <a:r>
                <a:rPr lang="en-US" sz="2951" spc="-10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ory access</a:t>
              </a:r>
            </a:p>
            <a:p>
              <a:pPr algn="just" marL="637193" indent="-318596" lvl="1">
                <a:lnSpc>
                  <a:spcPts val="3807"/>
                </a:lnSpc>
                <a:buFont typeface="Arial"/>
                <a:buChar char="•"/>
              </a:pPr>
              <a:r>
                <a:rPr lang="en-US" sz="2951" spc="-10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Step-by-step reasoning path</a:t>
              </a:r>
            </a:p>
            <a:p>
              <a:pPr algn="just">
                <a:lnSpc>
                  <a:spcPts val="3678"/>
                </a:lnSpc>
              </a:pPr>
            </a:p>
            <a:p>
              <a:pPr algn="just">
                <a:lnSpc>
                  <a:spcPts val="4065"/>
                </a:lnSpc>
              </a:pPr>
              <a:r>
                <a:rPr lang="en-US" b="true" sz="3151" spc="-107">
                  <a:solidFill>
                    <a:srgbClr val="FFFFFF"/>
                  </a:solidFill>
                  <a:latin typeface="Solway Bold"/>
                  <a:ea typeface="Solway Bold"/>
                  <a:cs typeface="Solway Bold"/>
                  <a:sym typeface="Solway Bold"/>
                </a:rPr>
                <a:t>Benefits:</a:t>
              </a:r>
            </a:p>
            <a:p>
              <a:pPr algn="just">
                <a:lnSpc>
                  <a:spcPts val="4065"/>
                </a:lnSpc>
              </a:pPr>
            </a:p>
            <a:p>
              <a:pPr algn="just" marL="637193" indent="-318596" lvl="1">
                <a:lnSpc>
                  <a:spcPts val="3807"/>
                </a:lnSpc>
                <a:buFont typeface="Arial"/>
                <a:buChar char="•"/>
              </a:pPr>
              <a:r>
                <a:rPr lang="en-US" sz="2951" spc="-10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Improves explainability</a:t>
              </a:r>
            </a:p>
            <a:p>
              <a:pPr algn="just" marL="637193" indent="-318596" lvl="1">
                <a:lnSpc>
                  <a:spcPts val="3807"/>
                </a:lnSpc>
                <a:buFont typeface="Arial"/>
                <a:buChar char="•"/>
              </a:pPr>
              <a:r>
                <a:rPr lang="en-US" sz="2951" spc="-10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Enables debugging and optimization</a:t>
              </a:r>
            </a:p>
            <a:p>
              <a:pPr algn="just">
                <a:lnSpc>
                  <a:spcPts val="3678"/>
                </a:lnSpc>
              </a:pPr>
            </a:p>
            <a:p>
              <a:pPr algn="just">
                <a:lnSpc>
                  <a:spcPts val="3851"/>
                </a:lnSpc>
              </a:pPr>
            </a:p>
            <a:p>
              <a:pPr algn="l">
                <a:lnSpc>
                  <a:spcPts val="3851"/>
                </a:lnSpc>
              </a:pPr>
            </a:p>
            <a:p>
              <a:pPr algn="l">
                <a:lnSpc>
                  <a:spcPts val="3851"/>
                </a:lnSpc>
              </a:pPr>
              <a:r>
                <a:rPr lang="en-US" sz="2751" spc="5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    </a:t>
              </a:r>
            </a:p>
            <a:p>
              <a:pPr algn="l">
                <a:lnSpc>
                  <a:spcPts val="3711"/>
                </a:lnSpc>
              </a:pPr>
            </a:p>
            <a:p>
              <a:pPr algn="l">
                <a:lnSpc>
                  <a:spcPts val="2121"/>
                </a:lnSpc>
              </a:pPr>
            </a:p>
            <a:p>
              <a:pPr algn="l">
                <a:lnSpc>
                  <a:spcPts val="3711"/>
                </a:lnSpc>
              </a:pPr>
            </a:p>
            <a:p>
              <a:pPr algn="l">
                <a:lnSpc>
                  <a:spcPts val="3711"/>
                </a:lnSpc>
              </a:pPr>
            </a:p>
            <a:p>
              <a:pPr algn="l">
                <a:lnSpc>
                  <a:spcPts val="3711"/>
                </a:lnSpc>
              </a:pPr>
            </a:p>
            <a:p>
              <a:pPr algn="l">
                <a:lnSpc>
                  <a:spcPts val="3711"/>
                </a:lnSpc>
              </a:pPr>
            </a:p>
            <a:p>
              <a:pPr algn="l">
                <a:lnSpc>
                  <a:spcPts val="3711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true" rot="0">
            <a:off x="-801968" y="-532177"/>
            <a:ext cx="2481421" cy="1974569"/>
          </a:xfrm>
          <a:custGeom>
            <a:avLst/>
            <a:gdLst/>
            <a:ahLst/>
            <a:cxnLst/>
            <a:rect r="r" b="b" t="t" l="l"/>
            <a:pathLst>
              <a:path h="1974569" w="2481421">
                <a:moveTo>
                  <a:pt x="2481421" y="1974569"/>
                </a:moveTo>
                <a:lnTo>
                  <a:pt x="0" y="1974569"/>
                </a:lnTo>
                <a:lnTo>
                  <a:pt x="0" y="0"/>
                </a:lnTo>
                <a:lnTo>
                  <a:pt x="2481421" y="0"/>
                </a:lnTo>
                <a:lnTo>
                  <a:pt x="2481421" y="1974569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7259300" y="7870263"/>
            <a:ext cx="1864239" cy="769422"/>
          </a:xfrm>
          <a:custGeom>
            <a:avLst/>
            <a:gdLst/>
            <a:ahLst/>
            <a:cxnLst/>
            <a:rect r="r" b="b" t="t" l="l"/>
            <a:pathLst>
              <a:path h="769422" w="1864239">
                <a:moveTo>
                  <a:pt x="0" y="0"/>
                </a:moveTo>
                <a:lnTo>
                  <a:pt x="1864239" y="0"/>
                </a:lnTo>
                <a:lnTo>
                  <a:pt x="1864239" y="769423"/>
                </a:lnTo>
                <a:lnTo>
                  <a:pt x="0" y="7694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634167" y="514350"/>
            <a:ext cx="7089896" cy="9258300"/>
          </a:xfrm>
          <a:custGeom>
            <a:avLst/>
            <a:gdLst/>
            <a:ahLst/>
            <a:cxnLst/>
            <a:rect r="r" b="b" t="t" l="l"/>
            <a:pathLst>
              <a:path h="9258300" w="7089896">
                <a:moveTo>
                  <a:pt x="0" y="0"/>
                </a:moveTo>
                <a:lnTo>
                  <a:pt x="7089896" y="0"/>
                </a:lnTo>
                <a:lnTo>
                  <a:pt x="7089896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52" t="-1877" r="-123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50066">
                <a:alpha val="100000"/>
              </a:srgbClr>
            </a:gs>
            <a:gs pos="100000">
              <a:srgbClr val="410659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00336" y="0"/>
            <a:ext cx="10270368" cy="10287000"/>
          </a:xfrm>
          <a:custGeom>
            <a:avLst/>
            <a:gdLst/>
            <a:ahLst/>
            <a:cxnLst/>
            <a:rect r="r" b="b" t="t" l="l"/>
            <a:pathLst>
              <a:path h="10287000" w="10270368">
                <a:moveTo>
                  <a:pt x="0" y="0"/>
                </a:moveTo>
                <a:lnTo>
                  <a:pt x="10270368" y="0"/>
                </a:lnTo>
                <a:lnTo>
                  <a:pt x="1027036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l="0" t="-6669" r="0" b="-2666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170032" y="0"/>
            <a:ext cx="10270368" cy="10287000"/>
          </a:xfrm>
          <a:custGeom>
            <a:avLst/>
            <a:gdLst/>
            <a:ahLst/>
            <a:cxnLst/>
            <a:rect r="r" b="b" t="t" l="l"/>
            <a:pathLst>
              <a:path h="10287000" w="10270368">
                <a:moveTo>
                  <a:pt x="0" y="0"/>
                </a:moveTo>
                <a:lnTo>
                  <a:pt x="10270368" y="0"/>
                </a:lnTo>
                <a:lnTo>
                  <a:pt x="1027036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l="0" t="-6669" r="0" b="-26669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259300" y="9517578"/>
            <a:ext cx="1864239" cy="769422"/>
          </a:xfrm>
          <a:custGeom>
            <a:avLst/>
            <a:gdLst/>
            <a:ahLst/>
            <a:cxnLst/>
            <a:rect r="r" b="b" t="t" l="l"/>
            <a:pathLst>
              <a:path h="769422" w="1864239">
                <a:moveTo>
                  <a:pt x="0" y="0"/>
                </a:moveTo>
                <a:lnTo>
                  <a:pt x="1864239" y="0"/>
                </a:lnTo>
                <a:lnTo>
                  <a:pt x="1864239" y="769422"/>
                </a:lnTo>
                <a:lnTo>
                  <a:pt x="0" y="7694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527053" y="2467202"/>
            <a:ext cx="14359447" cy="11620305"/>
            <a:chOff x="0" y="0"/>
            <a:chExt cx="3781912" cy="30604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81912" cy="3060492"/>
            </a:xfrm>
            <a:custGeom>
              <a:avLst/>
              <a:gdLst/>
              <a:ahLst/>
              <a:cxnLst/>
              <a:rect r="r" b="b" t="t" l="l"/>
              <a:pathLst>
                <a:path h="3060492" w="3781912">
                  <a:moveTo>
                    <a:pt x="0" y="0"/>
                  </a:moveTo>
                  <a:lnTo>
                    <a:pt x="3781912" y="0"/>
                  </a:lnTo>
                  <a:lnTo>
                    <a:pt x="3781912" y="3060492"/>
                  </a:lnTo>
                  <a:lnTo>
                    <a:pt x="0" y="3060492"/>
                  </a:lnTo>
                  <a:close/>
                </a:path>
              </a:pathLst>
            </a:custGeom>
            <a:gradFill rotWithShape="true">
              <a:gsLst>
                <a:gs pos="0">
                  <a:srgbClr val="050066">
                    <a:alpha val="100000"/>
                  </a:srgbClr>
                </a:gs>
                <a:gs pos="100000">
                  <a:srgbClr val="41065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3781912" cy="3079542"/>
            </a:xfrm>
            <a:prstGeom prst="rect">
              <a:avLst/>
            </a:prstGeom>
          </p:spPr>
          <p:txBody>
            <a:bodyPr anchor="ctr" rtlCol="false" tIns="317500" lIns="317500" bIns="317500" rIns="317500"/>
            <a:lstStyle/>
            <a:p>
              <a:pPr algn="just">
                <a:lnSpc>
                  <a:spcPts val="3678"/>
                </a:lnSpc>
              </a:pP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Key Problem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s and How They W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ere Solved</a:t>
              </a:r>
            </a:p>
            <a:p>
              <a:pPr algn="just">
                <a:lnSpc>
                  <a:spcPts val="3678"/>
                </a:lnSpc>
              </a:pPr>
            </a:p>
            <a:p>
              <a:pPr algn="just">
                <a:lnSpc>
                  <a:spcPts val="3678"/>
                </a:lnSpc>
              </a:pPr>
              <a:r>
                <a:rPr lang="en-US" b="true" sz="2851" spc="-96">
                  <a:solidFill>
                    <a:srgbClr val="FFFFFF"/>
                  </a:solidFill>
                  <a:latin typeface="Solway Bold"/>
                  <a:ea typeface="Solway Bold"/>
                  <a:cs typeface="Solway Bold"/>
                  <a:sym typeface="Solway Bold"/>
                </a:rPr>
                <a:t>Challenges Faced:</a:t>
              </a:r>
            </a:p>
            <a:p>
              <a:pPr algn="just">
                <a:lnSpc>
                  <a:spcPts val="3678"/>
                </a:lnSpc>
              </a:pPr>
            </a:p>
            <a:p>
              <a:pPr algn="just" marL="615603" indent="-307802" lvl="1">
                <a:lnSpc>
                  <a:spcPts val="3678"/>
                </a:lnSpc>
                <a:buFont typeface="Arial"/>
                <a:buChar char="•"/>
              </a:pP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Limited LLM cont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ext</a:t>
              </a:r>
            </a:p>
            <a:p>
              <a:pPr algn="just" marL="615603" indent="-307802" lvl="1">
                <a:lnSpc>
                  <a:spcPts val="3678"/>
                </a:lnSpc>
                <a:buFont typeface="Arial"/>
                <a:buChar char="•"/>
              </a:pP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Incons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i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st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ent ou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tput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s</a:t>
              </a:r>
            </a:p>
            <a:p>
              <a:pPr algn="just" marL="615603" indent="-307802" lvl="1">
                <a:lnSpc>
                  <a:spcPts val="3678"/>
                </a:lnSpc>
                <a:buFont typeface="Arial"/>
                <a:buChar char="•"/>
              </a:pP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Complex multi-agent coordination</a:t>
              </a:r>
            </a:p>
            <a:p>
              <a:pPr algn="just">
                <a:lnSpc>
                  <a:spcPts val="3678"/>
                </a:lnSpc>
              </a:pPr>
            </a:p>
            <a:p>
              <a:pPr algn="just">
                <a:lnSpc>
                  <a:spcPts val="3678"/>
                </a:lnSpc>
              </a:pPr>
              <a:r>
                <a:rPr lang="en-US" b="true" sz="2851" spc="-96">
                  <a:solidFill>
                    <a:srgbClr val="FFFFFF"/>
                  </a:solidFill>
                  <a:latin typeface="Solway Bold"/>
                  <a:ea typeface="Solway Bold"/>
                  <a:cs typeface="Solway Bold"/>
                  <a:sym typeface="Solway Bold"/>
                </a:rPr>
                <a:t>Solutions Implemented:</a:t>
              </a:r>
            </a:p>
            <a:p>
              <a:pPr algn="just">
                <a:lnSpc>
                  <a:spcPts val="3678"/>
                </a:lnSpc>
              </a:pPr>
            </a:p>
            <a:p>
              <a:pPr algn="just" marL="615603" indent="-307802" lvl="1">
                <a:lnSpc>
                  <a:spcPts val="3678"/>
                </a:lnSpc>
                <a:buFont typeface="Arial"/>
                <a:buChar char="•"/>
              </a:pP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P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ersistent VFS memor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y</a:t>
              </a:r>
            </a:p>
            <a:p>
              <a:pPr algn="just" marL="615603" indent="-307802" lvl="1">
                <a:lnSpc>
                  <a:spcPts val="3678"/>
                </a:lnSpc>
                <a:buFont typeface="Arial"/>
                <a:buChar char="•"/>
              </a:pP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Pl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ann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ing-bas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ed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 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ex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ecution (TODO phase)</a:t>
              </a:r>
            </a:p>
            <a:p>
              <a:pPr algn="just" marL="615603" indent="-307802" lvl="1">
                <a:lnSpc>
                  <a:spcPts val="3678"/>
                </a:lnSpc>
                <a:buFont typeface="Arial"/>
                <a:buChar char="•"/>
              </a:pP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Sup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ervi</a:t>
              </a: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sor–Worker architecture</a:t>
              </a:r>
            </a:p>
            <a:p>
              <a:pPr algn="just" marL="615603" indent="-307802" lvl="1">
                <a:lnSpc>
                  <a:spcPts val="3678"/>
                </a:lnSpc>
                <a:buFont typeface="Arial"/>
                <a:buChar char="•"/>
              </a:pPr>
              <a:r>
                <a:rPr lang="en-US" sz="2851" spc="-96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LangGraph for state management</a:t>
              </a:r>
            </a:p>
            <a:p>
              <a:pPr algn="just">
                <a:lnSpc>
                  <a:spcPts val="3851"/>
                </a:lnSpc>
              </a:pPr>
            </a:p>
            <a:p>
              <a:pPr algn="l">
                <a:lnSpc>
                  <a:spcPts val="3851"/>
                </a:lnSpc>
              </a:pPr>
            </a:p>
            <a:p>
              <a:pPr algn="l">
                <a:lnSpc>
                  <a:spcPts val="3851"/>
                </a:lnSpc>
              </a:pPr>
              <a:r>
                <a:rPr lang="en-US" sz="2751" spc="5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    </a:t>
              </a:r>
            </a:p>
            <a:p>
              <a:pPr algn="l">
                <a:lnSpc>
                  <a:spcPts val="3711"/>
                </a:lnSpc>
              </a:pPr>
            </a:p>
            <a:p>
              <a:pPr algn="l">
                <a:lnSpc>
                  <a:spcPts val="2121"/>
                </a:lnSpc>
              </a:pPr>
            </a:p>
            <a:p>
              <a:pPr algn="l">
                <a:lnSpc>
                  <a:spcPts val="3711"/>
                </a:lnSpc>
              </a:pPr>
            </a:p>
            <a:p>
              <a:pPr algn="l">
                <a:lnSpc>
                  <a:spcPts val="3711"/>
                </a:lnSpc>
              </a:pPr>
            </a:p>
            <a:p>
              <a:pPr algn="l">
                <a:lnSpc>
                  <a:spcPts val="3711"/>
                </a:lnSpc>
              </a:pPr>
            </a:p>
            <a:p>
              <a:pPr algn="l">
                <a:lnSpc>
                  <a:spcPts val="3711"/>
                </a:lnSpc>
              </a:pPr>
            </a:p>
            <a:p>
              <a:pPr algn="l">
                <a:lnSpc>
                  <a:spcPts val="3711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527053" y="1019175"/>
            <a:ext cx="12421077" cy="1049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8369"/>
              </a:lnSpc>
            </a:pPr>
            <a:r>
              <a:rPr lang="en-US" b="true" sz="6860" spc="-44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Challenges &amp; Solutions</a:t>
            </a:r>
          </a:p>
        </p:txBody>
      </p:sp>
      <p:sp>
        <p:nvSpPr>
          <p:cNvPr name="Freeform 9" id="9"/>
          <p:cNvSpPr/>
          <p:nvPr/>
        </p:nvSpPr>
        <p:spPr>
          <a:xfrm flipH="true" flipV="true" rot="0">
            <a:off x="-954368" y="-684577"/>
            <a:ext cx="2481421" cy="1974569"/>
          </a:xfrm>
          <a:custGeom>
            <a:avLst/>
            <a:gdLst/>
            <a:ahLst/>
            <a:cxnLst/>
            <a:rect r="r" b="b" t="t" l="l"/>
            <a:pathLst>
              <a:path h="1974569" w="2481421">
                <a:moveTo>
                  <a:pt x="2481421" y="1974569"/>
                </a:moveTo>
                <a:lnTo>
                  <a:pt x="0" y="1974569"/>
                </a:lnTo>
                <a:lnTo>
                  <a:pt x="0" y="0"/>
                </a:lnTo>
                <a:lnTo>
                  <a:pt x="2481421" y="0"/>
                </a:lnTo>
                <a:lnTo>
                  <a:pt x="2481421" y="1974569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50066">
                <a:alpha val="100000"/>
              </a:srgbClr>
            </a:gs>
            <a:gs pos="100000">
              <a:srgbClr val="410659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22432" y="152400"/>
            <a:ext cx="10270368" cy="10287000"/>
          </a:xfrm>
          <a:custGeom>
            <a:avLst/>
            <a:gdLst/>
            <a:ahLst/>
            <a:cxnLst/>
            <a:rect r="r" b="b" t="t" l="l"/>
            <a:pathLst>
              <a:path h="10287000" w="10270368">
                <a:moveTo>
                  <a:pt x="0" y="0"/>
                </a:moveTo>
                <a:lnTo>
                  <a:pt x="10270368" y="0"/>
                </a:lnTo>
                <a:lnTo>
                  <a:pt x="1027036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l="0" t="-6669" r="0" b="-2666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63404" y="0"/>
            <a:ext cx="10270368" cy="10287000"/>
          </a:xfrm>
          <a:custGeom>
            <a:avLst/>
            <a:gdLst/>
            <a:ahLst/>
            <a:cxnLst/>
            <a:rect r="r" b="b" t="t" l="l"/>
            <a:pathLst>
              <a:path h="10287000" w="10270368">
                <a:moveTo>
                  <a:pt x="0" y="0"/>
                </a:moveTo>
                <a:lnTo>
                  <a:pt x="10270368" y="0"/>
                </a:lnTo>
                <a:lnTo>
                  <a:pt x="1027036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l="0" t="-6669" r="0" b="-26669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679453" y="1019175"/>
            <a:ext cx="12421077" cy="1049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8369"/>
              </a:lnSpc>
            </a:pPr>
            <a:r>
              <a:rPr lang="en-US" b="true" sz="6860" spc="-44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Future Scope</a:t>
            </a:r>
          </a:p>
        </p:txBody>
      </p:sp>
      <p:sp>
        <p:nvSpPr>
          <p:cNvPr name="Freeform 5" id="5"/>
          <p:cNvSpPr/>
          <p:nvPr/>
        </p:nvSpPr>
        <p:spPr>
          <a:xfrm flipH="true" flipV="true" rot="0">
            <a:off x="-801968" y="-532177"/>
            <a:ext cx="2481421" cy="1974569"/>
          </a:xfrm>
          <a:custGeom>
            <a:avLst/>
            <a:gdLst/>
            <a:ahLst/>
            <a:cxnLst/>
            <a:rect r="r" b="b" t="t" l="l"/>
            <a:pathLst>
              <a:path h="1974569" w="2481421">
                <a:moveTo>
                  <a:pt x="2481421" y="1974569"/>
                </a:moveTo>
                <a:lnTo>
                  <a:pt x="0" y="1974569"/>
                </a:lnTo>
                <a:lnTo>
                  <a:pt x="0" y="0"/>
                </a:lnTo>
                <a:lnTo>
                  <a:pt x="2481421" y="0"/>
                </a:lnTo>
                <a:lnTo>
                  <a:pt x="2481421" y="1974569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467299" y="2528785"/>
            <a:ext cx="13710265" cy="12689607"/>
            <a:chOff x="0" y="0"/>
            <a:chExt cx="3610934" cy="33421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10934" cy="3342119"/>
            </a:xfrm>
            <a:custGeom>
              <a:avLst/>
              <a:gdLst/>
              <a:ahLst/>
              <a:cxnLst/>
              <a:rect r="r" b="b" t="t" l="l"/>
              <a:pathLst>
                <a:path h="3342119" w="3610934">
                  <a:moveTo>
                    <a:pt x="0" y="0"/>
                  </a:moveTo>
                  <a:lnTo>
                    <a:pt x="3610934" y="0"/>
                  </a:lnTo>
                  <a:lnTo>
                    <a:pt x="3610934" y="3342119"/>
                  </a:lnTo>
                  <a:lnTo>
                    <a:pt x="0" y="3342119"/>
                  </a:lnTo>
                  <a:close/>
                </a:path>
              </a:pathLst>
            </a:custGeom>
            <a:gradFill rotWithShape="true">
              <a:gsLst>
                <a:gs pos="0">
                  <a:srgbClr val="050066">
                    <a:alpha val="100000"/>
                  </a:srgbClr>
                </a:gs>
                <a:gs pos="100000">
                  <a:srgbClr val="41065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3610934" cy="3370694"/>
            </a:xfrm>
            <a:prstGeom prst="rect">
              <a:avLst/>
            </a:prstGeom>
          </p:spPr>
          <p:txBody>
            <a:bodyPr anchor="ctr" rtlCol="false" tIns="317500" lIns="317500" bIns="317500" rIns="317500"/>
            <a:lstStyle/>
            <a:p>
              <a:pPr algn="just">
                <a:lnSpc>
                  <a:spcPts val="3807"/>
                </a:lnSpc>
              </a:pPr>
              <a:r>
                <a:rPr lang="en-US" sz="2951" spc="-10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The system can be extended to support more advance</a:t>
              </a:r>
              <a:r>
                <a:rPr lang="en-US" sz="2951" spc="-10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d autonomy and intelligence through the following enhancements:</a:t>
              </a:r>
            </a:p>
            <a:p>
              <a:pPr algn="just">
                <a:lnSpc>
                  <a:spcPts val="3807"/>
                </a:lnSpc>
              </a:pPr>
            </a:p>
            <a:p>
              <a:pPr algn="just" marL="637193" indent="-318596" lvl="1">
                <a:lnSpc>
                  <a:spcPts val="3807"/>
                </a:lnSpc>
                <a:buFont typeface="Arial"/>
                <a:buChar char="•"/>
              </a:pPr>
              <a:r>
                <a:rPr lang="en-US" b="true" sz="2951" spc="-100">
                  <a:solidFill>
                    <a:srgbClr val="FFFFFF"/>
                  </a:solidFill>
                  <a:latin typeface="Solway Bold"/>
                  <a:ea typeface="Solway Bold"/>
                  <a:cs typeface="Solway Bold"/>
                  <a:sym typeface="Solway Bold"/>
                </a:rPr>
                <a:t>Specialized Agents – </a:t>
              </a:r>
              <a:r>
                <a:rPr lang="en-US" sz="2951" spc="-10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In</a:t>
              </a:r>
              <a:r>
                <a:rPr lang="en-US" sz="2951" spc="-10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troduce domain-focused agents to improve task efficiency and scalability</a:t>
              </a:r>
            </a:p>
            <a:p>
              <a:pPr algn="just">
                <a:lnSpc>
                  <a:spcPts val="3807"/>
                </a:lnSpc>
              </a:pPr>
            </a:p>
            <a:p>
              <a:pPr algn="just" marL="637193" indent="-318596" lvl="1">
                <a:lnSpc>
                  <a:spcPts val="3807"/>
                </a:lnSpc>
                <a:buFont typeface="Arial"/>
                <a:buChar char="•"/>
              </a:pPr>
              <a:r>
                <a:rPr lang="en-US" b="true" sz="2951" spc="-100">
                  <a:solidFill>
                    <a:srgbClr val="FFFFFF"/>
                  </a:solidFill>
                  <a:latin typeface="Solway Bold"/>
                  <a:ea typeface="Solway Bold"/>
                  <a:cs typeface="Solway Bold"/>
                  <a:sym typeface="Solway Bold"/>
                </a:rPr>
                <a:t>E</a:t>
              </a:r>
              <a:r>
                <a:rPr lang="en-US" b="true" sz="2951" spc="-100">
                  <a:solidFill>
                    <a:srgbClr val="FFFFFF"/>
                  </a:solidFill>
                  <a:latin typeface="Solway Bold"/>
                  <a:ea typeface="Solway Bold"/>
                  <a:cs typeface="Solway Bold"/>
                  <a:sym typeface="Solway Bold"/>
                </a:rPr>
                <a:t>xternal Integrations – </a:t>
              </a:r>
              <a:r>
                <a:rPr lang="en-US" sz="2951" spc="-10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Connect APIs and databases for real-time data access and persistent knowledge</a:t>
              </a:r>
            </a:p>
            <a:p>
              <a:pPr algn="just">
                <a:lnSpc>
                  <a:spcPts val="3807"/>
                </a:lnSpc>
              </a:pPr>
            </a:p>
            <a:p>
              <a:pPr algn="just" marL="637193" indent="-318596" lvl="1">
                <a:lnSpc>
                  <a:spcPts val="3807"/>
                </a:lnSpc>
                <a:buFont typeface="Arial"/>
                <a:buChar char="•"/>
              </a:pPr>
              <a:r>
                <a:rPr lang="en-US" b="true" sz="2951" spc="-100">
                  <a:solidFill>
                    <a:srgbClr val="FFFFFF"/>
                  </a:solidFill>
                  <a:latin typeface="Solway Bold"/>
                  <a:ea typeface="Solway Bold"/>
                  <a:cs typeface="Solway Bold"/>
                  <a:sym typeface="Solway Bold"/>
                </a:rPr>
                <a:t>Enhanced Memory Reasoning – </a:t>
              </a:r>
              <a:r>
                <a:rPr lang="en-US" sz="2951" spc="-10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Imp</a:t>
              </a:r>
              <a:r>
                <a:rPr lang="en-US" sz="2951" spc="-10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rove long-term memor</a:t>
              </a:r>
              <a:r>
                <a:rPr lang="en-US" sz="2951" spc="-10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y handling with prioritization and semantic recall</a:t>
              </a:r>
            </a:p>
            <a:p>
              <a:pPr algn="just">
                <a:lnSpc>
                  <a:spcPts val="3807"/>
                </a:lnSpc>
              </a:pPr>
            </a:p>
            <a:p>
              <a:pPr algn="just" marL="637193" indent="-318596" lvl="1">
                <a:lnSpc>
                  <a:spcPts val="3807"/>
                </a:lnSpc>
                <a:buFont typeface="Arial"/>
                <a:buChar char="•"/>
              </a:pPr>
              <a:r>
                <a:rPr lang="en-US" b="true" sz="2951" spc="-100">
                  <a:solidFill>
                    <a:srgbClr val="FFFFFF"/>
                  </a:solidFill>
                  <a:latin typeface="Solway Bold"/>
                  <a:ea typeface="Solway Bold"/>
                  <a:cs typeface="Solway Bold"/>
                  <a:sym typeface="Solway Bold"/>
                </a:rPr>
                <a:t>A</a:t>
              </a:r>
              <a:r>
                <a:rPr lang="en-US" b="true" sz="2951" spc="-100">
                  <a:solidFill>
                    <a:srgbClr val="FFFFFF"/>
                  </a:solidFill>
                  <a:latin typeface="Solway Bold"/>
                  <a:ea typeface="Solway Bold"/>
                  <a:cs typeface="Solway Bold"/>
                  <a:sym typeface="Solway Bold"/>
                </a:rPr>
                <a:t>utonomo</a:t>
              </a:r>
              <a:r>
                <a:rPr lang="en-US" b="true" sz="2951" spc="-100">
                  <a:solidFill>
                    <a:srgbClr val="FFFFFF"/>
                  </a:solidFill>
                  <a:latin typeface="Solway Bold"/>
                  <a:ea typeface="Solway Bold"/>
                  <a:cs typeface="Solway Bold"/>
                  <a:sym typeface="Solway Bold"/>
                </a:rPr>
                <a:t>u</a:t>
              </a:r>
              <a:r>
                <a:rPr lang="en-US" b="true" sz="2951" spc="-100">
                  <a:solidFill>
                    <a:srgbClr val="FFFFFF"/>
                  </a:solidFill>
                  <a:latin typeface="Solway Bold"/>
                  <a:ea typeface="Solway Bold"/>
                  <a:cs typeface="Solway Bold"/>
                  <a:sym typeface="Solway Bold"/>
                </a:rPr>
                <a:t>s Task Loops – </a:t>
              </a:r>
              <a:r>
                <a:rPr lang="en-US" sz="2951" spc="-10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Enable continuous plan–execute–evaluate cycles with minimal human input</a:t>
              </a:r>
            </a:p>
            <a:p>
              <a:pPr algn="just">
                <a:lnSpc>
                  <a:spcPts val="3678"/>
                </a:lnSpc>
              </a:pPr>
            </a:p>
            <a:p>
              <a:pPr algn="just">
                <a:lnSpc>
                  <a:spcPts val="3678"/>
                </a:lnSpc>
              </a:pPr>
            </a:p>
            <a:p>
              <a:pPr algn="just">
                <a:lnSpc>
                  <a:spcPts val="3851"/>
                </a:lnSpc>
              </a:pPr>
            </a:p>
            <a:p>
              <a:pPr algn="l">
                <a:lnSpc>
                  <a:spcPts val="3851"/>
                </a:lnSpc>
              </a:pPr>
            </a:p>
            <a:p>
              <a:pPr algn="l">
                <a:lnSpc>
                  <a:spcPts val="3851"/>
                </a:lnSpc>
              </a:pPr>
              <a:r>
                <a:rPr lang="en-US" sz="2751" spc="5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    </a:t>
              </a:r>
            </a:p>
            <a:p>
              <a:pPr algn="l">
                <a:lnSpc>
                  <a:spcPts val="3711"/>
                </a:lnSpc>
              </a:pPr>
            </a:p>
            <a:p>
              <a:pPr algn="l">
                <a:lnSpc>
                  <a:spcPts val="2121"/>
                </a:lnSpc>
              </a:pPr>
            </a:p>
            <a:p>
              <a:pPr algn="l">
                <a:lnSpc>
                  <a:spcPts val="3711"/>
                </a:lnSpc>
              </a:pPr>
            </a:p>
            <a:p>
              <a:pPr algn="l">
                <a:lnSpc>
                  <a:spcPts val="3711"/>
                </a:lnSpc>
              </a:pPr>
            </a:p>
            <a:p>
              <a:pPr algn="l">
                <a:lnSpc>
                  <a:spcPts val="3711"/>
                </a:lnSpc>
              </a:pPr>
            </a:p>
            <a:p>
              <a:pPr algn="l">
                <a:lnSpc>
                  <a:spcPts val="3711"/>
                </a:lnSpc>
              </a:pPr>
            </a:p>
            <a:p>
              <a:pPr algn="l">
                <a:lnSpc>
                  <a:spcPts val="3711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423761" y="8488878"/>
            <a:ext cx="1864239" cy="769422"/>
          </a:xfrm>
          <a:custGeom>
            <a:avLst/>
            <a:gdLst/>
            <a:ahLst/>
            <a:cxnLst/>
            <a:rect r="r" b="b" t="t" l="l"/>
            <a:pathLst>
              <a:path h="769422" w="1864239">
                <a:moveTo>
                  <a:pt x="0" y="0"/>
                </a:moveTo>
                <a:lnTo>
                  <a:pt x="1864239" y="0"/>
                </a:lnTo>
                <a:lnTo>
                  <a:pt x="1864239" y="769422"/>
                </a:lnTo>
                <a:lnTo>
                  <a:pt x="0" y="7694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50066">
                <a:alpha val="100000"/>
              </a:srgbClr>
            </a:gs>
            <a:gs pos="100000">
              <a:srgbClr val="410659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093872" y="152400"/>
            <a:ext cx="10270368" cy="10287000"/>
          </a:xfrm>
          <a:custGeom>
            <a:avLst/>
            <a:gdLst/>
            <a:ahLst/>
            <a:cxnLst/>
            <a:rect r="r" b="b" t="t" l="l"/>
            <a:pathLst>
              <a:path h="10287000" w="10270368">
                <a:moveTo>
                  <a:pt x="0" y="0"/>
                </a:moveTo>
                <a:lnTo>
                  <a:pt x="10270368" y="0"/>
                </a:lnTo>
                <a:lnTo>
                  <a:pt x="1027036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l="0" t="-6669" r="0" b="-2666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4214" y="152400"/>
            <a:ext cx="10270368" cy="10287000"/>
          </a:xfrm>
          <a:custGeom>
            <a:avLst/>
            <a:gdLst/>
            <a:ahLst/>
            <a:cxnLst/>
            <a:rect r="r" b="b" t="t" l="l"/>
            <a:pathLst>
              <a:path h="10287000" w="10270368">
                <a:moveTo>
                  <a:pt x="0" y="0"/>
                </a:moveTo>
                <a:lnTo>
                  <a:pt x="10270369" y="0"/>
                </a:lnTo>
                <a:lnTo>
                  <a:pt x="1027036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l="0" t="-6669" r="0" b="-26669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107601" y="1468609"/>
            <a:ext cx="12421077" cy="1049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8369"/>
              </a:lnSpc>
            </a:pPr>
            <a:r>
              <a:rPr lang="en-US" b="true" sz="6860" spc="-44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Conclusion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914148" y="3022982"/>
            <a:ext cx="14359447" cy="10773629"/>
            <a:chOff x="0" y="0"/>
            <a:chExt cx="3781912" cy="283749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81912" cy="2837499"/>
            </a:xfrm>
            <a:custGeom>
              <a:avLst/>
              <a:gdLst/>
              <a:ahLst/>
              <a:cxnLst/>
              <a:rect r="r" b="b" t="t" l="l"/>
              <a:pathLst>
                <a:path h="2837499" w="3781912">
                  <a:moveTo>
                    <a:pt x="0" y="0"/>
                  </a:moveTo>
                  <a:lnTo>
                    <a:pt x="3781912" y="0"/>
                  </a:lnTo>
                  <a:lnTo>
                    <a:pt x="3781912" y="2837499"/>
                  </a:lnTo>
                  <a:lnTo>
                    <a:pt x="0" y="2837499"/>
                  </a:lnTo>
                  <a:close/>
                </a:path>
              </a:pathLst>
            </a:custGeom>
            <a:gradFill rotWithShape="true">
              <a:gsLst>
                <a:gs pos="0">
                  <a:srgbClr val="050066">
                    <a:alpha val="100000"/>
                  </a:srgbClr>
                </a:gs>
                <a:gs pos="100000">
                  <a:srgbClr val="41065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3781912" cy="2894649"/>
            </a:xfrm>
            <a:prstGeom prst="rect">
              <a:avLst/>
            </a:prstGeom>
          </p:spPr>
          <p:txBody>
            <a:bodyPr anchor="ctr" rtlCol="false" tIns="292100" lIns="292100" bIns="292100" rIns="292100"/>
            <a:lstStyle/>
            <a:p>
              <a:pPr algn="just">
                <a:lnSpc>
                  <a:spcPts val="4131"/>
                </a:lnSpc>
              </a:pPr>
              <a:r>
                <a:rPr lang="en-US" sz="2951" spc="-115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This project demonstrate</a:t>
              </a:r>
              <a:r>
                <a:rPr lang="en-US" sz="2951" spc="-115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s a production-ready a</a:t>
              </a:r>
              <a:r>
                <a:rPr lang="en-US" sz="2951" spc="-115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uto</a:t>
              </a:r>
              <a:r>
                <a:rPr lang="en-US" sz="2951" spc="-115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n</a:t>
              </a:r>
              <a:r>
                <a:rPr lang="en-US" sz="2951" spc="-115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omous co</a:t>
              </a:r>
              <a:r>
                <a:rPr lang="en-US" sz="2951" spc="-115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g</a:t>
              </a:r>
              <a:r>
                <a:rPr lang="en-US" sz="2951" spc="-115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nitiv</a:t>
              </a:r>
              <a:r>
                <a:rPr lang="en-US" sz="2951" spc="-115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e a</a:t>
              </a:r>
              <a:r>
                <a:rPr lang="en-US" sz="2951" spc="-115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r</a:t>
              </a:r>
              <a:r>
                <a:rPr lang="en-US" sz="2951" spc="-115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c</a:t>
              </a:r>
              <a:r>
                <a:rPr lang="en-US" sz="2951" spc="-115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hitecture that combin</a:t>
              </a:r>
              <a:r>
                <a:rPr lang="en-US" sz="2951" spc="-115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es:</a:t>
              </a:r>
            </a:p>
            <a:p>
              <a:pPr algn="just">
                <a:lnSpc>
                  <a:spcPts val="4131"/>
                </a:lnSpc>
              </a:pPr>
            </a:p>
            <a:p>
              <a:pPr algn="just" marL="637193" indent="-318596" lvl="1">
                <a:lnSpc>
                  <a:spcPts val="4131"/>
                </a:lnSpc>
                <a:buFont typeface="Arial"/>
                <a:buChar char="•"/>
              </a:pPr>
              <a:r>
                <a:rPr lang="en-US" sz="2951" spc="-115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Pla</a:t>
              </a:r>
              <a:r>
                <a:rPr lang="en-US" sz="2951" spc="-115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nn</a:t>
              </a:r>
              <a:r>
                <a:rPr lang="en-US" sz="2951" spc="-115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ing and reasoning</a:t>
              </a:r>
            </a:p>
            <a:p>
              <a:pPr algn="just" marL="637193" indent="-318596" lvl="1">
                <a:lnSpc>
                  <a:spcPts val="4131"/>
                </a:lnSpc>
                <a:buFont typeface="Arial"/>
                <a:buChar char="•"/>
              </a:pPr>
              <a:r>
                <a:rPr lang="en-US" sz="2951" spc="-115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Multi-agent coordination</a:t>
              </a:r>
            </a:p>
            <a:p>
              <a:pPr algn="just" marL="637193" indent="-318596" lvl="1">
                <a:lnSpc>
                  <a:spcPts val="4131"/>
                </a:lnSpc>
                <a:buFont typeface="Arial"/>
                <a:buChar char="•"/>
              </a:pPr>
              <a:r>
                <a:rPr lang="en-US" sz="2951" spc="-115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P</a:t>
              </a:r>
              <a:r>
                <a:rPr lang="en-US" sz="2951" spc="-115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ersistent memor</a:t>
              </a:r>
              <a:r>
                <a:rPr lang="en-US" sz="2951" spc="-115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y</a:t>
              </a:r>
            </a:p>
            <a:p>
              <a:pPr algn="just" marL="637193" indent="-318596" lvl="1">
                <a:lnSpc>
                  <a:spcPts val="4131"/>
                </a:lnSpc>
                <a:buFont typeface="Arial"/>
                <a:buChar char="•"/>
              </a:pPr>
              <a:r>
                <a:rPr lang="en-US" sz="2951" spc="-115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Too</a:t>
              </a:r>
              <a:r>
                <a:rPr lang="en-US" sz="2951" spc="-115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l-dr</a:t>
              </a:r>
              <a:r>
                <a:rPr lang="en-US" sz="2951" spc="-115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iv</a:t>
              </a:r>
              <a:r>
                <a:rPr lang="en-US" sz="2951" spc="-115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en</a:t>
              </a:r>
              <a:r>
                <a:rPr lang="en-US" sz="2951" spc="-115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 execution</a:t>
              </a:r>
            </a:p>
            <a:p>
              <a:pPr algn="just">
                <a:lnSpc>
                  <a:spcPts val="4131"/>
                </a:lnSpc>
              </a:pPr>
            </a:p>
            <a:p>
              <a:pPr algn="just">
                <a:lnSpc>
                  <a:spcPts val="4131"/>
                </a:lnSpc>
              </a:pPr>
              <a:r>
                <a:rPr lang="en-US" sz="2951" spc="-115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The system </a:t>
              </a:r>
              <a:r>
                <a:rPr lang="en-US" sz="2951" spc="-115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p</a:t>
              </a:r>
              <a:r>
                <a:rPr lang="en-US" sz="2951" spc="-115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rovide</a:t>
              </a:r>
              <a:r>
                <a:rPr lang="en-US" sz="2951" spc="-115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s a strong foundation for autonomous research systems, intelligent assistants, and long-horizon AI applications.</a:t>
              </a:r>
            </a:p>
            <a:p>
              <a:pPr algn="just">
                <a:lnSpc>
                  <a:spcPts val="3991"/>
                </a:lnSpc>
              </a:pPr>
            </a:p>
            <a:p>
              <a:pPr algn="just">
                <a:lnSpc>
                  <a:spcPts val="3851"/>
                </a:lnSpc>
              </a:pPr>
            </a:p>
            <a:p>
              <a:pPr algn="l">
                <a:lnSpc>
                  <a:spcPts val="3851"/>
                </a:lnSpc>
              </a:pPr>
            </a:p>
            <a:p>
              <a:pPr algn="l">
                <a:lnSpc>
                  <a:spcPts val="3851"/>
                </a:lnSpc>
              </a:pPr>
              <a:r>
                <a:rPr lang="en-US" sz="2751" spc="5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    </a:t>
              </a:r>
            </a:p>
            <a:p>
              <a:pPr algn="l">
                <a:lnSpc>
                  <a:spcPts val="3711"/>
                </a:lnSpc>
              </a:pPr>
            </a:p>
            <a:p>
              <a:pPr algn="l">
                <a:lnSpc>
                  <a:spcPts val="2121"/>
                </a:lnSpc>
              </a:pPr>
            </a:p>
            <a:p>
              <a:pPr algn="l">
                <a:lnSpc>
                  <a:spcPts val="3711"/>
                </a:lnSpc>
              </a:pPr>
            </a:p>
            <a:p>
              <a:pPr algn="l">
                <a:lnSpc>
                  <a:spcPts val="3711"/>
                </a:lnSpc>
              </a:pPr>
            </a:p>
            <a:p>
              <a:pPr algn="l">
                <a:lnSpc>
                  <a:spcPts val="3711"/>
                </a:lnSpc>
              </a:pPr>
            </a:p>
            <a:p>
              <a:pPr algn="l">
                <a:lnSpc>
                  <a:spcPts val="3711"/>
                </a:lnSpc>
              </a:pPr>
            </a:p>
            <a:p>
              <a:pPr algn="l">
                <a:lnSpc>
                  <a:spcPts val="3711"/>
                </a:lnSpc>
              </a:pP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50066">
                <a:alpha val="100000"/>
              </a:srgbClr>
            </a:gs>
            <a:gs pos="100000">
              <a:srgbClr val="410659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0"/>
            <a:ext cx="10270368" cy="10287000"/>
          </a:xfrm>
          <a:custGeom>
            <a:avLst/>
            <a:gdLst/>
            <a:ahLst/>
            <a:cxnLst/>
            <a:rect r="r" b="b" t="t" l="l"/>
            <a:pathLst>
              <a:path h="10287000" w="10270368">
                <a:moveTo>
                  <a:pt x="0" y="0"/>
                </a:moveTo>
                <a:lnTo>
                  <a:pt x="10270368" y="0"/>
                </a:lnTo>
                <a:lnTo>
                  <a:pt x="1027036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l="0" t="-6669" r="0" b="-2666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126368" y="0"/>
            <a:ext cx="10270368" cy="10287000"/>
          </a:xfrm>
          <a:custGeom>
            <a:avLst/>
            <a:gdLst/>
            <a:ahLst/>
            <a:cxnLst/>
            <a:rect r="r" b="b" t="t" l="l"/>
            <a:pathLst>
              <a:path h="10287000" w="10270368">
                <a:moveTo>
                  <a:pt x="0" y="0"/>
                </a:moveTo>
                <a:lnTo>
                  <a:pt x="10270368" y="0"/>
                </a:lnTo>
                <a:lnTo>
                  <a:pt x="1027036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l="0" t="-6669" r="0" b="-26669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548896" y="9130665"/>
            <a:ext cx="80905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-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771377" y="3196212"/>
            <a:ext cx="12573795" cy="1494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086"/>
              </a:lnSpc>
            </a:pPr>
            <a:r>
              <a:rPr lang="en-US" b="true" sz="11669" i="true" spc="23">
                <a:solidFill>
                  <a:srgbClr val="FFFFFF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THANK YOU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5658240" y="2188451"/>
            <a:ext cx="3893895" cy="3893895"/>
          </a:xfrm>
          <a:custGeom>
            <a:avLst/>
            <a:gdLst/>
            <a:ahLst/>
            <a:cxnLst/>
            <a:rect r="r" b="b" t="t" l="l"/>
            <a:pathLst>
              <a:path h="3893895" w="3893895">
                <a:moveTo>
                  <a:pt x="0" y="0"/>
                </a:moveTo>
                <a:lnTo>
                  <a:pt x="3893895" y="0"/>
                </a:lnTo>
                <a:lnTo>
                  <a:pt x="3893895" y="3893895"/>
                </a:lnTo>
                <a:lnTo>
                  <a:pt x="0" y="38938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-1208523" y="3805316"/>
            <a:ext cx="3979900" cy="3979900"/>
          </a:xfrm>
          <a:custGeom>
            <a:avLst/>
            <a:gdLst/>
            <a:ahLst/>
            <a:cxnLst/>
            <a:rect r="r" b="b" t="t" l="l"/>
            <a:pathLst>
              <a:path h="3979900" w="3979900">
                <a:moveTo>
                  <a:pt x="3979900" y="3979900"/>
                </a:moveTo>
                <a:lnTo>
                  <a:pt x="0" y="3979900"/>
                </a:lnTo>
                <a:lnTo>
                  <a:pt x="0" y="0"/>
                </a:lnTo>
                <a:lnTo>
                  <a:pt x="3979900" y="0"/>
                </a:lnTo>
                <a:lnTo>
                  <a:pt x="3979900" y="397990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6060783" y="5143500"/>
            <a:ext cx="5994984" cy="8831991"/>
            <a:chOff x="0" y="0"/>
            <a:chExt cx="1578926" cy="23261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78926" cy="2326121"/>
            </a:xfrm>
            <a:custGeom>
              <a:avLst/>
              <a:gdLst/>
              <a:ahLst/>
              <a:cxnLst/>
              <a:rect r="r" b="b" t="t" l="l"/>
              <a:pathLst>
                <a:path h="2326121" w="1578926">
                  <a:moveTo>
                    <a:pt x="0" y="0"/>
                  </a:moveTo>
                  <a:lnTo>
                    <a:pt x="1578926" y="0"/>
                  </a:lnTo>
                  <a:lnTo>
                    <a:pt x="1578926" y="2326121"/>
                  </a:lnTo>
                  <a:lnTo>
                    <a:pt x="0" y="2326121"/>
                  </a:lnTo>
                  <a:close/>
                </a:path>
              </a:pathLst>
            </a:custGeom>
            <a:gradFill rotWithShape="true">
              <a:gsLst>
                <a:gs pos="0">
                  <a:srgbClr val="050066">
                    <a:alpha val="100000"/>
                  </a:srgbClr>
                </a:gs>
                <a:gs pos="100000">
                  <a:srgbClr val="41065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1578926" cy="2402321"/>
            </a:xfrm>
            <a:prstGeom prst="rect">
              <a:avLst/>
            </a:prstGeom>
          </p:spPr>
          <p:txBody>
            <a:bodyPr anchor="ctr" rtlCol="false" tIns="292100" lIns="292100" bIns="292100" rIns="292100"/>
            <a:lstStyle/>
            <a:p>
              <a:pPr algn="just">
                <a:lnSpc>
                  <a:spcPts val="4831"/>
                </a:lnSpc>
              </a:pPr>
              <a:r>
                <a:rPr lang="en-US" sz="3451" spc="-134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    </a:t>
              </a:r>
              <a:r>
                <a:rPr lang="en-US" b="true" sz="3451" spc="-134">
                  <a:solidFill>
                    <a:srgbClr val="FFFFFF"/>
                  </a:solidFill>
                  <a:latin typeface="Solway Bold"/>
                  <a:ea typeface="Solway Bold"/>
                  <a:cs typeface="Solway Bold"/>
                  <a:sym typeface="Solway Bold"/>
                </a:rPr>
                <a:t>Questions &amp; Discussion</a:t>
              </a:r>
            </a:p>
            <a:p>
              <a:pPr algn="just">
                <a:lnSpc>
                  <a:spcPts val="4131"/>
                </a:lnSpc>
              </a:pPr>
            </a:p>
            <a:p>
              <a:pPr algn="just">
                <a:lnSpc>
                  <a:spcPts val="4411"/>
                </a:lnSpc>
              </a:pPr>
              <a:r>
                <a:rPr lang="en-US" sz="3151" spc="-122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    </a:t>
              </a:r>
            </a:p>
            <a:p>
              <a:pPr algn="just">
                <a:lnSpc>
                  <a:spcPts val="4131"/>
                </a:lnSpc>
              </a:pPr>
            </a:p>
            <a:p>
              <a:pPr algn="just">
                <a:lnSpc>
                  <a:spcPts val="3991"/>
                </a:lnSpc>
              </a:pPr>
            </a:p>
            <a:p>
              <a:pPr algn="just">
                <a:lnSpc>
                  <a:spcPts val="3851"/>
                </a:lnSpc>
              </a:pPr>
            </a:p>
            <a:p>
              <a:pPr algn="l">
                <a:lnSpc>
                  <a:spcPts val="3851"/>
                </a:lnSpc>
              </a:pPr>
            </a:p>
            <a:p>
              <a:pPr algn="l">
                <a:lnSpc>
                  <a:spcPts val="3851"/>
                </a:lnSpc>
              </a:pPr>
              <a:r>
                <a:rPr lang="en-US" sz="2751" spc="5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    </a:t>
              </a:r>
            </a:p>
            <a:p>
              <a:pPr algn="l">
                <a:lnSpc>
                  <a:spcPts val="3711"/>
                </a:lnSpc>
              </a:pPr>
            </a:p>
            <a:p>
              <a:pPr algn="l">
                <a:lnSpc>
                  <a:spcPts val="2121"/>
                </a:lnSpc>
              </a:pPr>
            </a:p>
            <a:p>
              <a:pPr algn="l">
                <a:lnSpc>
                  <a:spcPts val="3711"/>
                </a:lnSpc>
              </a:pPr>
            </a:p>
            <a:p>
              <a:pPr algn="l">
                <a:lnSpc>
                  <a:spcPts val="3711"/>
                </a:lnSpc>
              </a:pPr>
            </a:p>
            <a:p>
              <a:pPr algn="l">
                <a:lnSpc>
                  <a:spcPts val="3711"/>
                </a:lnSpc>
              </a:pPr>
            </a:p>
            <a:p>
              <a:pPr algn="l">
                <a:lnSpc>
                  <a:spcPts val="3711"/>
                </a:lnSpc>
              </a:pPr>
            </a:p>
            <a:p>
              <a:pPr algn="l">
                <a:lnSpc>
                  <a:spcPts val="3711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DAG-kj0QupY</dc:identifier>
  <dcterms:modified xsi:type="dcterms:W3CDTF">2011-08-01T06:04:30Z</dcterms:modified>
  <cp:revision>1</cp:revision>
  <dc:title>Blue and Pink Gradient Minimalist Project Proposal Presentation</dc:title>
</cp:coreProperties>
</file>