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Quattrocento"/>
      <p:regular r:id="rId19"/>
    </p:embeddedFont>
    <p:embeddedFont>
      <p:font typeface="Quattrocento"/>
      <p:regular r:id="rId20"/>
    </p:embeddedFont>
    <p:embeddedFont>
      <p:font typeface="Quattrocento"/>
      <p:regular r:id="rId21"/>
    </p:embeddedFont>
    <p:embeddedFont>
      <p:font typeface="Quattrocen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27672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Autonomous Cognitive Engine for Deep Research and Long-Horizon Tasks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21445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Multi-Agent Research System using LangGraph &amp; LangSmith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86668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                                                                                                                                                                                                      Presented by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551890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                                                                                                                                                                                                      Annam Lasya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8669" y="611743"/>
            <a:ext cx="2232422" cy="418147"/>
          </a:xfrm>
          <a:prstGeom prst="roundRect">
            <a:avLst>
              <a:gd name="adj" fmla="val 6385"/>
            </a:avLst>
          </a:prstGeom>
          <a:solidFill>
            <a:srgbClr val="44170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138" y="731877"/>
            <a:ext cx="177879" cy="177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8957" y="678418"/>
            <a:ext cx="1698665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8669" y="1118830"/>
            <a:ext cx="6959203" cy="654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Multi-Agent Research System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778669" y="2106930"/>
            <a:ext cx="1307306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project implements a multi-agent research system using: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78669" y="2913340"/>
            <a:ext cx="599277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LangGraph (state-driven execution)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78669" y="3469481"/>
            <a:ext cx="599277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78669" y="4025622"/>
            <a:ext cx="599277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LangChain (LLM orchestration) 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78669" y="4581763"/>
            <a:ext cx="599277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78669" y="5137904"/>
            <a:ext cx="599277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LangSmith (tracing) 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Streamlit (UI) </a:t>
            </a:r>
            <a:endParaRPr lang="en-US" sz="17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925" y="2963466"/>
            <a:ext cx="5508308" cy="28890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21748" y="6102787"/>
            <a:ext cx="6537484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78669" y="6909197"/>
            <a:ext cx="13073063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Goal: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Clear separation of planning, research, search, and summarization, while keeping internal reasoning hidden from UI and fully traceable.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851779"/>
            <a:ext cx="1395055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931194"/>
            <a:ext cx="109263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412563"/>
            <a:ext cx="921627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Problem with Traditional Agents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347555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Single-agent design mixes planning, reasoning, and execution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394227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Lack of observability → reasoning and tool usage are hidden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40900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Difficult to debug or audit workflows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487572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Poor handling of long-horizon tasks and complex dependencies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34245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structured memory for intermediate results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7724" y="599467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Takeaway: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Traditional agents do not separate responsibilities, making them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opaque, brittle, and hard to scale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7531" y="565190"/>
            <a:ext cx="1306592" cy="386120"/>
          </a:xfrm>
          <a:prstGeom prst="roundRect">
            <a:avLst>
              <a:gd name="adj" fmla="val 6388"/>
            </a:avLst>
          </a:prstGeom>
          <a:solidFill>
            <a:srgbClr val="44170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0760" y="676037"/>
            <a:ext cx="164425" cy="164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67339" y="626745"/>
            <a:ext cx="813554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SOLUTION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97531" y="1033462"/>
            <a:ext cx="6082189" cy="483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Modular Multi-Agent Approach 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97531" y="1825228"/>
            <a:ext cx="12235339" cy="65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Multi-Agent Design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Specialized agents (Planner, Research, Search, Summarizer) work together in a deterministic, state-driven system.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97531" y="2713911"/>
            <a:ext cx="12235339" cy="65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Role Separation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Each agent has a clear, independent responsibility.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97531" y="3787497"/>
            <a:ext cx="5866924" cy="98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Tool-Based Execution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 actions use traceable tools, artifacts are stored in VFS, and LangSmith logs every step.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566" y="3833813"/>
            <a:ext cx="5866924" cy="30877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73566" y="7152799"/>
            <a:ext cx="5866924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9061" y="577929"/>
            <a:ext cx="1492210" cy="394930"/>
          </a:xfrm>
          <a:prstGeom prst="roundRect">
            <a:avLst>
              <a:gd name="adj" fmla="val 6387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1185148" y="640913"/>
            <a:ext cx="1240036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9061" y="1056918"/>
            <a:ext cx="6208038" cy="61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Architecture &amp; Flow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1059061" y="1990368"/>
            <a:ext cx="1251227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Execution Flow 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59061" y="2563058"/>
            <a:ext cx="1251227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 query → Planner TODOs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59061" y="2972753"/>
            <a:ext cx="1251227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Research agent orchestrates tools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59061" y="3382447"/>
            <a:ext cx="1251227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Search agent performs web search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59061" y="3792141"/>
            <a:ext cx="1251227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Summarizer generates final output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59061" y="4201835"/>
            <a:ext cx="12512278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Font typeface="+mj-lt"/>
              <a:buAutoNum type="arabicPeriod" startAt="5"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Results stored in VFS, shown in UI</a:t>
            </a:r>
            <a:endParaRPr lang="en-US" sz="16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1950" y="4774525"/>
            <a:ext cx="6286381" cy="2877026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5534" y="5492841"/>
            <a:ext cx="404179" cy="404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85435" y="6975042"/>
            <a:ext cx="1180203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Summarizer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5858" y="5493600"/>
            <a:ext cx="404180" cy="40417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56" y="6975042"/>
            <a:ext cx="1180203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Search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86563" y="5493600"/>
            <a:ext cx="404179" cy="40417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18760" y="6975042"/>
            <a:ext cx="1180203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Research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99184" y="5493600"/>
            <a:ext cx="404179" cy="40417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07130" y="6975042"/>
            <a:ext cx="1180203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Planner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65033"/>
            <a:ext cx="683633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Features &amp; Capabilities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4779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Planner Agent: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Converts user queries into structured TODOs for controlled execution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8145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Search &amp; Research Agents: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Parallel information retrieval and tool coordination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28124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Summarizer Agent: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Generates coherent final summaries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7479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Virtual File System (VFS):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Shared memory for intermediate and final outputs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21469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LangSmith Tracing: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Full observability of agent decisions, tool calls, and state transitions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6814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Streamlit UI: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Clean interface showing only results and sidebar files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124" y="630198"/>
            <a:ext cx="6158627" cy="674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Technology Stack &amp; Tools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02124" y="1762482"/>
            <a:ext cx="13026152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Tavily Search API</a:t>
            </a:r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Provides enterprise-grade web search with semantic ranking, enabling accurate and relevant research results.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2124" y="2753678"/>
            <a:ext cx="13026152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2124" y="3378160"/>
            <a:ext cx="13026152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OpenRouter LLM</a:t>
            </a:r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Offers a single gateway to multiple large language models, allowing flexible model selection and execution.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2124" y="4369356"/>
            <a:ext cx="13026152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2124" y="4993838"/>
            <a:ext cx="13026152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Traceable Tools</a:t>
            </a:r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 agent actions and tool calls are fully logged, ensuring transparency, observability, and easy debugging.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2124" y="5985034"/>
            <a:ext cx="13026152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2124" y="6609517"/>
            <a:ext cx="13026152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2124" y="7233999"/>
            <a:ext cx="13026152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818198"/>
            <a:ext cx="2361605" cy="449818"/>
          </a:xfrm>
          <a:prstGeom prst="roundRect">
            <a:avLst>
              <a:gd name="adj" fmla="val 6386"/>
            </a:avLst>
          </a:prstGeom>
          <a:solidFill>
            <a:srgbClr val="EF9C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1313" y="947380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492" y="889992"/>
            <a:ext cx="178724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VFS ARCHITECTURE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1363742"/>
            <a:ext cx="660153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Virtual File System Design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807244" y="2665452"/>
            <a:ext cx="60960" cy="2184321"/>
          </a:xfrm>
          <a:prstGeom prst="rect">
            <a:avLst/>
          </a:prstGeom>
          <a:solidFill>
            <a:srgbClr val="1D4241"/>
          </a:solidFill>
          <a:ln/>
        </p:spPr>
      </p:sp>
      <p:sp>
        <p:nvSpPr>
          <p:cNvPr id="7" name="Text 4"/>
          <p:cNvSpPr/>
          <p:nvPr/>
        </p:nvSpPr>
        <p:spPr>
          <a:xfrm>
            <a:off x="1137999" y="2695932"/>
            <a:ext cx="283725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Shared Agent Memory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37999" y="3287197"/>
            <a:ext cx="3319820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Centralised state repository enabling seamless data exchange between autonomous agents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4726543" y="2665452"/>
            <a:ext cx="60960" cy="2184321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0" name="Text 7"/>
          <p:cNvSpPr/>
          <p:nvPr/>
        </p:nvSpPr>
        <p:spPr>
          <a:xfrm>
            <a:off x="5057299" y="269593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todos.json Structure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057299" y="3287197"/>
            <a:ext cx="3319820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Structured task management with status tracking, dependencies, and priority queuing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07244" y="5267563"/>
            <a:ext cx="60960" cy="1418273"/>
          </a:xfrm>
          <a:prstGeom prst="rect">
            <a:avLst/>
          </a:prstGeom>
          <a:solidFill>
            <a:srgbClr val="1D4241"/>
          </a:solidFill>
          <a:ln/>
        </p:spPr>
      </p:sp>
      <p:sp>
        <p:nvSpPr>
          <p:cNvPr id="13" name="Text 10"/>
          <p:cNvSpPr/>
          <p:nvPr/>
        </p:nvSpPr>
        <p:spPr>
          <a:xfrm>
            <a:off x="1137999" y="529804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summary.md Output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37999" y="5889308"/>
            <a:ext cx="723911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Markdown-formatted final deliverable containing synthesised research findings and insights</a:t>
            </a:r>
            <a:endParaRPr lang="en-US" sz="1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621" y="2695932"/>
            <a:ext cx="3558897" cy="38478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68621" y="6812994"/>
            <a:ext cx="483155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78938" y="492919"/>
            <a:ext cx="1480423" cy="336947"/>
          </a:xfrm>
          <a:prstGeom prst="roundRect">
            <a:avLst>
              <a:gd name="adj" fmla="val 6385"/>
            </a:avLst>
          </a:prstGeom>
          <a:solidFill>
            <a:srgbClr val="44170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6451" y="589717"/>
            <a:ext cx="143351" cy="143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01478" y="546616"/>
            <a:ext cx="1050369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978938" y="901541"/>
            <a:ext cx="6168509" cy="52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LangSmith Tracing &amp; Monitoring</a:t>
            </a:r>
            <a:endParaRPr lang="en-US" sz="3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938" y="1697593"/>
            <a:ext cx="10672405" cy="52664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78938" y="7165657"/>
            <a:ext cx="10672405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LangSmith provides production-grade tracing, enabling rapid debugging, performance optimisation, and continuous improvement of agent behaviours.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8071"/>
            <a:ext cx="742485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Challenges And Future Scope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94083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593062"/>
            <a:ext cx="12954952" cy="4226123"/>
          </a:xfrm>
          <a:prstGeom prst="roundRect">
            <a:avLst>
              <a:gd name="adj" fmla="val 85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344" y="2600682"/>
            <a:ext cx="12939713" cy="35254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84659" y="2751892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Challenges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84659" y="3317796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84659" y="3844409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Coordinating multiple agents smoothly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84659" y="4299228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Maintaining consistent shared state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084659" y="4754047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Mapping tasks to correct tools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084659" y="5208865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Debugging &amp; tracing agent actions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084659" y="5663684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Handling concurrent requests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558326" y="2751892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Future Scope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7558326" y="3317796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558326" y="3844409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Fully autonomous task execution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558326" y="4299228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Integrate more AI models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558326" y="4754047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Personalized user workflows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558326" y="5208865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Automatic data visualizations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558326" y="5663684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Multi-language &amp; cloud support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845344" y="6126123"/>
            <a:ext cx="12939713" cy="685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84659" y="6277332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558326" y="6277332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37724" y="708838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762732"/>
            <a:ext cx="798742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                                THANK YOU…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8896" y="376273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Q/A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2026-01-22T15:28:38Z</dcterms:created>
  <dcterms:modified xsi:type="dcterms:W3CDTF">2026-01-22T15:28:38Z</dcterms:modified>
</cp:coreProperties>
</file>