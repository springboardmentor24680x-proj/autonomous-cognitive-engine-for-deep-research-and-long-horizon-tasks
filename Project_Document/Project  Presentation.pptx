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Montserrat Bold" panose="020B0604020202020204" charset="0"/>
      <p:regular r:id="rId18"/>
    </p:embeddedFont>
    <p:embeddedFont>
      <p:font typeface="Montserrat Bold Italics" panose="020B0604020202020204" charset="0"/>
      <p:regular r:id="rId19"/>
    </p:embeddedFont>
    <p:embeddedFont>
      <p:font typeface="Solway" panose="020B0604020202020204" charset="0"/>
      <p:regular r:id="rId20"/>
    </p:embeddedFont>
    <p:embeddedFont>
      <p:font typeface="Solway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5033" autoAdjust="0"/>
  </p:normalViewPr>
  <p:slideViewPr>
    <p:cSldViewPr>
      <p:cViewPr varScale="1">
        <p:scale>
          <a:sx n="55" d="100"/>
          <a:sy n="55" d="100"/>
        </p:scale>
        <p:origin x="658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3070C-6BFB-48C1-9920-D033C69086D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BDEBC-C1DE-4BCC-94AE-A9877A08FD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32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BDEBC-C1DE-4BCC-94AE-A9877A08FDE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052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17632" y="0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520473" y="3843785"/>
            <a:ext cx="2767527" cy="4856065"/>
          </a:xfrm>
          <a:custGeom>
            <a:avLst/>
            <a:gdLst/>
            <a:ahLst/>
            <a:cxnLst/>
            <a:rect l="l" t="t" r="r" b="b"/>
            <a:pathLst>
              <a:path w="4856065" h="4856065">
                <a:moveTo>
                  <a:pt x="0" y="0"/>
                </a:moveTo>
                <a:lnTo>
                  <a:pt x="4856065" y="0"/>
                </a:lnTo>
                <a:lnTo>
                  <a:pt x="4856065" y="4856065"/>
                </a:lnTo>
                <a:lnTo>
                  <a:pt x="0" y="4856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 flipV="1">
            <a:off x="-1" y="2037799"/>
            <a:ext cx="3214788" cy="4951279"/>
          </a:xfrm>
          <a:custGeom>
            <a:avLst/>
            <a:gdLst/>
            <a:ahLst/>
            <a:cxnLst/>
            <a:rect l="l" t="t" r="r" b="b"/>
            <a:pathLst>
              <a:path w="4951279" h="4951279">
                <a:moveTo>
                  <a:pt x="4951279" y="4951279"/>
                </a:moveTo>
                <a:lnTo>
                  <a:pt x="0" y="4951279"/>
                </a:lnTo>
                <a:lnTo>
                  <a:pt x="0" y="0"/>
                </a:lnTo>
                <a:lnTo>
                  <a:pt x="4951279" y="0"/>
                </a:lnTo>
                <a:lnTo>
                  <a:pt x="4951279" y="495127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969816" y="2592239"/>
            <a:ext cx="12925702" cy="5302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02"/>
              </a:lnSpc>
            </a:pPr>
            <a:r>
              <a:rPr lang="en-US" sz="8739" b="1" spc="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AUTONOMOUS</a:t>
            </a:r>
          </a:p>
          <a:p>
            <a:pPr algn="ctr">
              <a:lnSpc>
                <a:spcPts val="8302"/>
              </a:lnSpc>
            </a:pPr>
            <a:endParaRPr lang="en-US" sz="8739" b="1" spc="17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8302"/>
              </a:lnSpc>
            </a:pPr>
            <a:r>
              <a:rPr lang="en-US" sz="8739" b="1" spc="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COGNITIVE </a:t>
            </a:r>
          </a:p>
          <a:p>
            <a:pPr algn="ctr">
              <a:lnSpc>
                <a:spcPts val="8302"/>
              </a:lnSpc>
            </a:pPr>
            <a:endParaRPr lang="en-US" sz="8739" b="1" spc="17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0" lvl="0" indent="0" algn="ctr">
              <a:lnSpc>
                <a:spcPts val="8302"/>
              </a:lnSpc>
            </a:pPr>
            <a:r>
              <a:rPr lang="en-US" sz="8739" b="1" spc="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7193670" y="8540493"/>
            <a:ext cx="12925702" cy="394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3139" b="1" i="1" spc="6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-by Pavani Sai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2390"/>
            <a:ext cx="9091694" cy="10234610"/>
          </a:xfrm>
          <a:custGeom>
            <a:avLst/>
            <a:gdLst/>
            <a:ahLst/>
            <a:cxnLst/>
            <a:rect l="l" t="t" r="r" b="b"/>
            <a:pathLst>
              <a:path w="10218062" h="10234610">
                <a:moveTo>
                  <a:pt x="0" y="0"/>
                </a:moveTo>
                <a:lnTo>
                  <a:pt x="10218062" y="0"/>
                </a:lnTo>
                <a:lnTo>
                  <a:pt x="10218062" y="10234610"/>
                </a:lnTo>
                <a:lnTo>
                  <a:pt x="0" y="1023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983000" y="52390"/>
            <a:ext cx="7305000" cy="10234610"/>
          </a:xfrm>
          <a:custGeom>
            <a:avLst/>
            <a:gdLst/>
            <a:ahLst/>
            <a:cxnLst/>
            <a:rect l="l" t="t" r="r" b="b"/>
            <a:pathLst>
              <a:path w="10322674" h="10287000">
                <a:moveTo>
                  <a:pt x="0" y="0"/>
                </a:moveTo>
                <a:lnTo>
                  <a:pt x="10322674" y="0"/>
                </a:lnTo>
                <a:lnTo>
                  <a:pt x="1032267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958" b="-270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-2" y="8873589"/>
            <a:ext cx="1371601" cy="769422"/>
          </a:xfrm>
          <a:custGeom>
            <a:avLst/>
            <a:gdLst/>
            <a:ahLst/>
            <a:cxnLst/>
            <a:rect l="l" t="t" r="r" b="b"/>
            <a:pathLst>
              <a:path w="1864239" h="769422">
                <a:moveTo>
                  <a:pt x="1864239" y="0"/>
                </a:moveTo>
                <a:lnTo>
                  <a:pt x="0" y="0"/>
                </a:lnTo>
                <a:lnTo>
                  <a:pt x="0" y="769422"/>
                </a:lnTo>
                <a:lnTo>
                  <a:pt x="1864239" y="769422"/>
                </a:lnTo>
                <a:lnTo>
                  <a:pt x="186423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6611579" y="0"/>
            <a:ext cx="1734309" cy="2512345"/>
          </a:xfrm>
          <a:custGeom>
            <a:avLst/>
            <a:gdLst/>
            <a:ahLst/>
            <a:cxnLst/>
            <a:rect l="l" t="t" r="r" b="b"/>
            <a:pathLst>
              <a:path w="4067957" h="3661920">
                <a:moveTo>
                  <a:pt x="0" y="0"/>
                </a:moveTo>
                <a:lnTo>
                  <a:pt x="4067957" y="0"/>
                </a:lnTo>
                <a:lnTo>
                  <a:pt x="4067957" y="3661920"/>
                </a:lnTo>
                <a:lnTo>
                  <a:pt x="0" y="366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691661" y="2243485"/>
            <a:ext cx="14564893" cy="10820035"/>
            <a:chOff x="0" y="-47625"/>
            <a:chExt cx="3836021" cy="2849721"/>
          </a:xfrm>
        </p:grpSpPr>
        <p:sp>
          <p:nvSpPr>
            <p:cNvPr id="7" name="Freeform 7"/>
            <p:cNvSpPr/>
            <p:nvPr/>
          </p:nvSpPr>
          <p:spPr>
            <a:xfrm>
              <a:off x="0" y="-6324"/>
              <a:ext cx="3836021" cy="1907545"/>
            </a:xfrm>
            <a:custGeom>
              <a:avLst/>
              <a:gdLst/>
              <a:ahLst/>
              <a:cxnLst/>
              <a:rect l="l" t="t" r="r" b="b"/>
              <a:pathLst>
                <a:path w="3836021" h="2802096">
                  <a:moveTo>
                    <a:pt x="0" y="0"/>
                  </a:moveTo>
                  <a:lnTo>
                    <a:pt x="3836021" y="0"/>
                  </a:lnTo>
                  <a:lnTo>
                    <a:pt x="3836021" y="2802096"/>
                  </a:lnTo>
                  <a:lnTo>
                    <a:pt x="0" y="2802096"/>
                  </a:lnTo>
                  <a:close/>
                </a:path>
              </a:pathLst>
            </a:custGeom>
            <a:gradFill rotWithShape="1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836021" cy="2849721"/>
            </a:xfrm>
            <a:prstGeom prst="rect">
              <a:avLst/>
            </a:prstGeom>
          </p:spPr>
          <p:txBody>
            <a:bodyPr lIns="317500" tIns="317500" rIns="317500" bIns="317500" rtlCol="0" anchor="ctr"/>
            <a:lstStyle/>
            <a:p>
              <a:pPr algn="just">
                <a:lnSpc>
                  <a:spcPts val="3991"/>
                </a:lnSpc>
              </a:pPr>
              <a:r>
                <a:rPr lang="en-US" sz="2851" spc="-151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This project implements an Autonomous Cognitive Agent System capable of reasoning, planning, and acting independently. Instead of relying on a single prompt-response interaction, the system maintains context, uses tools, and executes tasks over long horizons.</a:t>
              </a:r>
            </a:p>
            <a:p>
              <a:pPr algn="just">
                <a:lnSpc>
                  <a:spcPts val="3851"/>
                </a:lnSpc>
              </a:pPr>
              <a:endParaRPr lang="en-US" sz="2851" spc="-151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marL="615603" lvl="1" indent="-307802" algn="l">
                <a:lnSpc>
                  <a:spcPts val="3991"/>
                </a:lnSpc>
                <a:buFont typeface="Arial"/>
                <a:buChar char="•"/>
              </a:pPr>
              <a:r>
                <a:rPr lang="en-US" sz="2851" spc="-68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Build an autonomous AI agent system</a:t>
              </a:r>
            </a:p>
            <a:p>
              <a:pPr algn="l">
                <a:lnSpc>
                  <a:spcPts val="3991"/>
                </a:lnSpc>
              </a:pPr>
              <a:endParaRPr lang="en-US" sz="2851" spc="-68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marL="615603" lvl="1" indent="-307802" algn="l">
                <a:lnSpc>
                  <a:spcPts val="3991"/>
                </a:lnSpc>
                <a:buFont typeface="Arial"/>
                <a:buChar char="•"/>
              </a:pPr>
              <a:r>
                <a:rPr lang="en-US" sz="2851" spc="-68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Key features: reasoning, tool usage, persistent memory</a:t>
              </a:r>
            </a:p>
            <a:p>
              <a:pPr algn="l">
                <a:lnSpc>
                  <a:spcPts val="3991"/>
                </a:lnSpc>
              </a:pPr>
              <a:endParaRPr lang="en-US" sz="2851" spc="-68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marL="615603" lvl="1" indent="-307802" algn="l">
                <a:lnSpc>
                  <a:spcPts val="3991"/>
                </a:lnSpc>
                <a:buFont typeface="Arial"/>
                <a:buChar char="•"/>
              </a:pPr>
              <a:r>
                <a:rPr lang="en-US" sz="2851" spc="-68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Modular, scalable, multi-agent design</a:t>
              </a:r>
            </a:p>
            <a:p>
              <a:pPr algn="l">
                <a:lnSpc>
                  <a:spcPts val="3991"/>
                </a:lnSpc>
              </a:pPr>
              <a:endParaRPr lang="en-US" sz="2851" spc="-68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991"/>
                </a:lnSpc>
              </a:pPr>
              <a:r>
                <a:rPr lang="en-US" sz="2851" spc="-68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This system demonstrates how LLMs can be transformed from simple chat models into stateful, goal-driven autonomous agents.</a:t>
              </a:r>
            </a:p>
            <a:p>
              <a:pPr algn="l">
                <a:lnSpc>
                  <a:spcPts val="3851"/>
                </a:lnSpc>
              </a:pPr>
              <a:r>
                <a:rPr lang="en-US" sz="2751" spc="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212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891306" y="1200150"/>
            <a:ext cx="8430592" cy="95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07"/>
              </a:lnSpc>
            </a:pPr>
            <a:r>
              <a:rPr lang="en-US" sz="7481" b="1" spc="-48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45345"/>
            <a:ext cx="9604121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9258342" y="-495300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566150" y="1289992"/>
            <a:ext cx="10739752" cy="82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28"/>
              </a:lnSpc>
            </a:pPr>
            <a:r>
              <a:rPr lang="en-US" sz="6450" b="1" spc="-4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Technologies Used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35746" y="2464144"/>
            <a:ext cx="14939319" cy="6390352"/>
            <a:chOff x="119796" y="138873"/>
            <a:chExt cx="3836021" cy="2148894"/>
          </a:xfrm>
        </p:grpSpPr>
        <p:sp>
          <p:nvSpPr>
            <p:cNvPr id="6" name="Freeform 6"/>
            <p:cNvSpPr/>
            <p:nvPr/>
          </p:nvSpPr>
          <p:spPr>
            <a:xfrm>
              <a:off x="119796" y="138873"/>
              <a:ext cx="3836021" cy="2148894"/>
            </a:xfrm>
            <a:custGeom>
              <a:avLst/>
              <a:gdLst/>
              <a:ahLst/>
              <a:cxnLst/>
              <a:rect l="l" t="t" r="r" b="b"/>
              <a:pathLst>
                <a:path w="3836021" h="2792073">
                  <a:moveTo>
                    <a:pt x="0" y="0"/>
                  </a:moveTo>
                  <a:lnTo>
                    <a:pt x="3836021" y="0"/>
                  </a:lnTo>
                  <a:lnTo>
                    <a:pt x="3836021" y="2792073"/>
                  </a:lnTo>
                  <a:lnTo>
                    <a:pt x="0" y="2792073"/>
                  </a:lnTo>
                  <a:close/>
                </a:path>
              </a:pathLst>
            </a:custGeom>
            <a:gradFill rotWithShape="1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algn="just">
                <a:lnSpc>
                  <a:spcPts val="3991"/>
                </a:lnSpc>
              </a:pPr>
              <a:endParaRPr lang="en-US" sz="2851" spc="-179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991"/>
                </a:lnSpc>
              </a:pPr>
              <a:r>
                <a:rPr lang="en-US" sz="2851" spc="-179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system is built using modern AI orchestration frameworks and high-performance LLMs.</a:t>
              </a:r>
            </a:p>
            <a:p>
              <a:pPr algn="just">
                <a:lnSpc>
                  <a:spcPts val="3851"/>
                </a:lnSpc>
              </a:pPr>
              <a:endParaRPr lang="en-US" sz="2851" spc="-179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991"/>
                </a:lnSpc>
              </a:pPr>
              <a:r>
                <a:rPr lang="en-US" sz="2851" b="1" spc="-39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Stack Overview:</a:t>
              </a:r>
            </a:p>
            <a:p>
              <a:pPr algn="just">
                <a:lnSpc>
                  <a:spcPts val="3851"/>
                </a:lnSpc>
              </a:pPr>
              <a:endParaRPr lang="en-US" sz="2851" b="1" spc="-39" dirty="0">
                <a:solidFill>
                  <a:srgbClr val="FFFFFF"/>
                </a:solidFill>
                <a:latin typeface="Solway Bold"/>
                <a:ea typeface="Solway Bold"/>
                <a:cs typeface="Solway Bold"/>
                <a:sym typeface="Solway Bold"/>
              </a:endParaRP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39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Python – Core implementation language</a:t>
              </a: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39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LangChain – LLM integration, prompts, and tools</a:t>
              </a: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39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LangGraph – Stateful, graph-based execution</a:t>
              </a: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39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Groq-hosted LLMs – Fast inference for reasoning</a:t>
              </a: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39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Virtual File System (VFS) – Persistent memory layer</a:t>
              </a:r>
            </a:p>
            <a:p>
              <a:pPr algn="just">
                <a:lnSpc>
                  <a:spcPts val="3991"/>
                </a:lnSpc>
              </a:pPr>
              <a:endParaRPr lang="en-US" sz="2851" spc="-39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991"/>
                </a:lnSpc>
              </a:pPr>
              <a:r>
                <a:rPr lang="en-US" sz="2851" spc="-39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This stack ensures performance, modularity, and maintainability.</a:t>
              </a:r>
            </a:p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9478" y="1817107"/>
              <a:ext cx="3656657" cy="123749"/>
            </a:xfrm>
            <a:prstGeom prst="rect">
              <a:avLst/>
            </a:prstGeom>
          </p:spPr>
          <p:txBody>
            <a:bodyPr lIns="317500" tIns="317500" rIns="317500" bIns="317500" rtlCol="0" anchor="ctr"/>
            <a:lstStyle/>
            <a:p>
              <a:pPr algn="l">
                <a:lnSpc>
                  <a:spcPts val="3851"/>
                </a:lnSpc>
              </a:pPr>
              <a:endParaRPr lang="en-US" sz="2851" spc="-39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r>
                <a:rPr lang="en-US" sz="2751" spc="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212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 flipH="1" flipV="1">
            <a:off x="-72811" y="8685784"/>
            <a:ext cx="1408556" cy="1646561"/>
          </a:xfrm>
          <a:custGeom>
            <a:avLst/>
            <a:gdLst/>
            <a:ahLst/>
            <a:cxnLst/>
            <a:rect l="l" t="t" r="r" b="b"/>
            <a:pathLst>
              <a:path w="2481421" h="1974569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6960567" y="14547"/>
            <a:ext cx="1335746" cy="1660543"/>
          </a:xfrm>
          <a:custGeom>
            <a:avLst/>
            <a:gdLst/>
            <a:ahLst/>
            <a:cxnLst/>
            <a:rect l="l" t="t" r="r" b="b"/>
            <a:pathLst>
              <a:path w="2481421" h="1974569">
                <a:moveTo>
                  <a:pt x="0" y="0"/>
                </a:moveTo>
                <a:lnTo>
                  <a:pt x="2481422" y="0"/>
                </a:lnTo>
                <a:lnTo>
                  <a:pt x="2481422" y="1974570"/>
                </a:lnTo>
                <a:lnTo>
                  <a:pt x="0" y="1974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" y="-24245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9128760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600200" y="1041775"/>
            <a:ext cx="11931728" cy="864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6450"/>
              </a:lnSpc>
            </a:pPr>
            <a:r>
              <a:rPr lang="en-US" sz="6790" b="1" spc="-44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-18956" y="8312431"/>
            <a:ext cx="1181099" cy="1974569"/>
          </a:xfrm>
          <a:custGeom>
            <a:avLst/>
            <a:gdLst/>
            <a:ahLst/>
            <a:cxnLst/>
            <a:rect l="l" t="t" r="r" b="b"/>
            <a:pathLst>
              <a:path w="2481421" h="1974569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>
            <a:off x="17011788" y="0"/>
            <a:ext cx="1276212" cy="1974569"/>
          </a:xfrm>
          <a:custGeom>
            <a:avLst/>
            <a:gdLst/>
            <a:ahLst/>
            <a:cxnLst/>
            <a:rect l="l" t="t" r="r" b="b"/>
            <a:pathLst>
              <a:path w="2481421" h="1974569">
                <a:moveTo>
                  <a:pt x="0" y="0"/>
                </a:moveTo>
                <a:lnTo>
                  <a:pt x="2481422" y="0"/>
                </a:lnTo>
                <a:lnTo>
                  <a:pt x="2481422" y="1974570"/>
                </a:lnTo>
                <a:lnTo>
                  <a:pt x="0" y="1974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184310" y="1974569"/>
            <a:ext cx="15583039" cy="10515603"/>
            <a:chOff x="31349" y="-154638"/>
            <a:chExt cx="4064001" cy="2769541"/>
          </a:xfrm>
        </p:grpSpPr>
        <p:sp>
          <p:nvSpPr>
            <p:cNvPr id="8" name="Freeform 8"/>
            <p:cNvSpPr/>
            <p:nvPr/>
          </p:nvSpPr>
          <p:spPr>
            <a:xfrm>
              <a:off x="31349" y="-143935"/>
              <a:ext cx="4064001" cy="1923114"/>
            </a:xfrm>
            <a:custGeom>
              <a:avLst/>
              <a:gdLst/>
              <a:ahLst/>
              <a:cxnLst/>
              <a:rect l="l" t="t" r="r" b="b"/>
              <a:pathLst>
                <a:path w="3781912" h="2792073">
                  <a:moveTo>
                    <a:pt x="0" y="0"/>
                  </a:moveTo>
                  <a:lnTo>
                    <a:pt x="3781912" y="0"/>
                  </a:lnTo>
                  <a:lnTo>
                    <a:pt x="3781912" y="2792073"/>
                  </a:lnTo>
                  <a:lnTo>
                    <a:pt x="0" y="2792073"/>
                  </a:lnTo>
                  <a:close/>
                </a:path>
              </a:pathLst>
            </a:custGeom>
            <a:gradFill rotWithShape="1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7462" y="-154638"/>
              <a:ext cx="3781912" cy="2769541"/>
            </a:xfrm>
            <a:prstGeom prst="rect">
              <a:avLst/>
            </a:prstGeom>
          </p:spPr>
          <p:txBody>
            <a:bodyPr lIns="317500" tIns="317500" rIns="317500" bIns="317500" rtlCol="0" anchor="ctr"/>
            <a:lstStyle/>
            <a:p>
              <a:pPr algn="just">
                <a:lnSpc>
                  <a:spcPts val="399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991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system follows a </a:t>
              </a:r>
              <a:r>
                <a:rPr lang="en-US" sz="2851" b="1" spc="-96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Supervisor–Worker multi-agent architecture</a:t>
              </a: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.</a:t>
              </a:r>
            </a:p>
            <a:p>
              <a:pPr algn="just">
                <a:lnSpc>
                  <a:spcPts val="399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991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 central Supervisor Agent coordinates multiple specialized agents, while all agents share a persistent memory system.</a:t>
              </a:r>
            </a:p>
            <a:p>
              <a:pPr algn="just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991"/>
                </a:lnSpc>
              </a:pPr>
              <a:r>
                <a:rPr lang="en-US" sz="2851" b="1" spc="-96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Architectural Principles:</a:t>
              </a:r>
            </a:p>
            <a:p>
              <a:pPr algn="just">
                <a:lnSpc>
                  <a:spcPts val="3851"/>
                </a:lnSpc>
              </a:pPr>
              <a:endParaRPr lang="en-US" sz="2851" b="1" spc="-96" dirty="0">
                <a:solidFill>
                  <a:srgbClr val="FFFFFF"/>
                </a:solidFill>
                <a:latin typeface="Solway Bold"/>
                <a:ea typeface="Solway Bold"/>
                <a:cs typeface="Solway Bold"/>
                <a:sym typeface="Solway Bold"/>
              </a:endParaRP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Separation of reasoning and execution</a:t>
              </a: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Clear role-based agent responsibilities</a:t>
              </a: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Shared persistent state</a:t>
              </a:r>
            </a:p>
            <a:p>
              <a:pPr algn="just">
                <a:lnSpc>
                  <a:spcPts val="399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991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This design improves scalability, clarity, and fault isolation.</a:t>
              </a:r>
            </a:p>
            <a:p>
              <a:pPr algn="l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r>
                <a:rPr lang="en-US" sz="2751" spc="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212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085" y="0"/>
            <a:ext cx="9033621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600200" y="1043197"/>
            <a:ext cx="13184402" cy="836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08"/>
              </a:lnSpc>
            </a:pPr>
            <a:r>
              <a:rPr lang="en-US" sz="6534" b="1" spc="-424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Supervisor Agent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66799" y="2264477"/>
            <a:ext cx="15652087" cy="7600635"/>
            <a:chOff x="-123374" y="60120"/>
            <a:chExt cx="3905286" cy="3302196"/>
          </a:xfrm>
        </p:grpSpPr>
        <p:sp>
          <p:nvSpPr>
            <p:cNvPr id="8" name="Freeform 8"/>
            <p:cNvSpPr/>
            <p:nvPr/>
          </p:nvSpPr>
          <p:spPr>
            <a:xfrm>
              <a:off x="-123374" y="60120"/>
              <a:ext cx="3781912" cy="2925037"/>
            </a:xfrm>
            <a:custGeom>
              <a:avLst/>
              <a:gdLst/>
              <a:ahLst/>
              <a:cxnLst/>
              <a:rect l="l" t="t" r="r" b="b"/>
              <a:pathLst>
                <a:path w="3781912" h="2925037">
                  <a:moveTo>
                    <a:pt x="0" y="0"/>
                  </a:moveTo>
                  <a:lnTo>
                    <a:pt x="3781912" y="0"/>
                  </a:lnTo>
                  <a:lnTo>
                    <a:pt x="3781912" y="2925037"/>
                  </a:lnTo>
                  <a:lnTo>
                    <a:pt x="0" y="2925037"/>
                  </a:lnTo>
                  <a:close/>
                </a:path>
              </a:pathLst>
            </a:custGeom>
            <a:gradFill rotWithShape="1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39568" y="1462518"/>
              <a:ext cx="3821480" cy="1899798"/>
            </a:xfrm>
            <a:prstGeom prst="rect">
              <a:avLst/>
            </a:prstGeom>
          </p:spPr>
          <p:txBody>
            <a:bodyPr lIns="317500" tIns="317500" rIns="317500" bIns="317500" rtlCol="0" anchor="ctr"/>
            <a:lstStyle/>
            <a:p>
              <a:pPr algn="just">
                <a:lnSpc>
                  <a:spcPts val="3991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Supervisor Agent acts as the brain of the system. It interprets user intent, creates execution plans, and coordinates all other agents.</a:t>
              </a:r>
            </a:p>
            <a:p>
              <a:pPr algn="just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991"/>
                </a:lnSpc>
              </a:pPr>
              <a:r>
                <a:rPr lang="en-US" sz="2851" b="1" spc="-96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Key Responsibilities:</a:t>
              </a:r>
            </a:p>
            <a:p>
              <a:pPr algn="just">
                <a:lnSpc>
                  <a:spcPts val="3991"/>
                </a:lnSpc>
              </a:pPr>
              <a:endParaRPr lang="en-US" sz="2851" b="1" spc="-96" dirty="0">
                <a:solidFill>
                  <a:srgbClr val="FFFFFF"/>
                </a:solidFill>
                <a:latin typeface="Solway Bold"/>
                <a:ea typeface="Solway Bold"/>
                <a:cs typeface="Solway Bold"/>
                <a:sym typeface="Solway Bold"/>
              </a:endParaRP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Understand user intent</a:t>
              </a: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Convert queries into structured plans</a:t>
              </a: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Delegate tasks to specialized agents</a:t>
              </a: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Integrate memory and agent outputs</a:t>
              </a: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Produce the final response</a:t>
              </a:r>
            </a:p>
            <a:p>
              <a:pPr algn="just">
                <a:lnSpc>
                  <a:spcPts val="399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991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This controlled planning ensures deterministic and explainable execution.</a:t>
              </a:r>
            </a:p>
            <a:p>
              <a:pPr algn="just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r>
                <a:rPr lang="en-US" sz="2751" spc="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212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-43897"/>
            <a:ext cx="9143999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9143999" y="0"/>
            <a:ext cx="9142615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1517620" y="1881698"/>
            <a:ext cx="12599899" cy="812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073"/>
              </a:lnSpc>
            </a:pPr>
            <a:r>
              <a:rPr lang="en-US" sz="6393" b="1" spc="-217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Worker Agents and Their Roles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17620" y="3009898"/>
            <a:ext cx="15030822" cy="6096000"/>
            <a:chOff x="-58453" y="124712"/>
            <a:chExt cx="3958735" cy="2401433"/>
          </a:xfrm>
        </p:grpSpPr>
        <p:sp>
          <p:nvSpPr>
            <p:cNvPr id="6" name="Freeform 6"/>
            <p:cNvSpPr/>
            <p:nvPr/>
          </p:nvSpPr>
          <p:spPr>
            <a:xfrm>
              <a:off x="0" y="124712"/>
              <a:ext cx="3781912" cy="2401433"/>
            </a:xfrm>
            <a:custGeom>
              <a:avLst/>
              <a:gdLst/>
              <a:ahLst/>
              <a:cxnLst/>
              <a:rect l="l" t="t" r="r" b="b"/>
              <a:pathLst>
                <a:path w="3781912" h="2526146">
                  <a:moveTo>
                    <a:pt x="0" y="0"/>
                  </a:moveTo>
                  <a:lnTo>
                    <a:pt x="3781912" y="0"/>
                  </a:lnTo>
                  <a:lnTo>
                    <a:pt x="3781912" y="2526146"/>
                  </a:lnTo>
                  <a:lnTo>
                    <a:pt x="0" y="2526146"/>
                  </a:lnTo>
                  <a:close/>
                </a:path>
              </a:pathLst>
            </a:custGeom>
            <a:gradFill rotWithShape="1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58453" y="2015841"/>
              <a:ext cx="3958735" cy="320108"/>
            </a:xfrm>
            <a:prstGeom prst="rect">
              <a:avLst/>
            </a:prstGeom>
          </p:spPr>
          <p:txBody>
            <a:bodyPr lIns="317500" tIns="317500" rIns="317500" bIns="317500" rtlCol="0" anchor="ctr"/>
            <a:lstStyle/>
            <a:p>
              <a:pPr algn="just">
                <a:lnSpc>
                  <a:spcPts val="3991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To reduce complexity, responsibilities are distributed among specialized agents.</a:t>
              </a:r>
            </a:p>
            <a:p>
              <a:pPr algn="just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131"/>
                </a:lnSpc>
              </a:pPr>
              <a:r>
                <a:rPr lang="en-US" sz="2951" b="1" spc="-100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Agents in the System:</a:t>
              </a:r>
            </a:p>
            <a:p>
              <a:pPr algn="just">
                <a:lnSpc>
                  <a:spcPts val="3851"/>
                </a:lnSpc>
              </a:pPr>
              <a:endParaRPr lang="en-US" sz="2951" b="1" spc="-100" dirty="0">
                <a:solidFill>
                  <a:srgbClr val="FFFFFF"/>
                </a:solidFill>
                <a:latin typeface="Solway Bold"/>
                <a:ea typeface="Solway Bold"/>
                <a:cs typeface="Solway Bold"/>
                <a:sym typeface="Solway Bold"/>
              </a:endParaRP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Search Agent – Retrieves information from internal or external sources</a:t>
              </a:r>
            </a:p>
            <a:p>
              <a:pPr algn="just">
                <a:lnSpc>
                  <a:spcPts val="399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Summarizer Agent – Condenses large outputs into concise summaries</a:t>
              </a:r>
            </a:p>
            <a:p>
              <a:pPr algn="just">
                <a:lnSpc>
                  <a:spcPts val="399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991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Each agent focuses on a single responsibility, improving reliability and clarity.</a:t>
              </a:r>
            </a:p>
            <a:p>
              <a:pPr algn="just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r>
                <a:rPr lang="en-US" sz="2751" spc="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212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17036241" y="8889913"/>
            <a:ext cx="1251760" cy="769422"/>
          </a:xfrm>
          <a:custGeom>
            <a:avLst/>
            <a:gdLst/>
            <a:ahLst/>
            <a:cxnLst/>
            <a:rect l="l" t="t" r="r" b="b"/>
            <a:pathLst>
              <a:path w="1864239" h="769422">
                <a:moveTo>
                  <a:pt x="0" y="0"/>
                </a:moveTo>
                <a:lnTo>
                  <a:pt x="1864239" y="0"/>
                </a:lnTo>
                <a:lnTo>
                  <a:pt x="1864239" y="769423"/>
                </a:lnTo>
                <a:lnTo>
                  <a:pt x="0" y="7694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flipH="1" flipV="1">
            <a:off x="1385" y="-31173"/>
            <a:ext cx="1066801" cy="1232708"/>
          </a:xfrm>
          <a:custGeom>
            <a:avLst/>
            <a:gdLst/>
            <a:ahLst/>
            <a:cxnLst/>
            <a:rect l="l" t="t" r="r" b="b"/>
            <a:pathLst>
              <a:path w="2481421" h="1974569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42214" y="202301"/>
            <a:ext cx="10106919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126368" y="0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599573" y="1364664"/>
            <a:ext cx="12772466" cy="860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58"/>
              </a:lnSpc>
            </a:pPr>
            <a:r>
              <a:rPr lang="en-US" sz="6693" b="1" spc="-43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Persistent Memory (VFS)</a:t>
            </a:r>
          </a:p>
        </p:txBody>
      </p:sp>
      <p:sp>
        <p:nvSpPr>
          <p:cNvPr id="5" name="Freeform 5"/>
          <p:cNvSpPr/>
          <p:nvPr/>
        </p:nvSpPr>
        <p:spPr>
          <a:xfrm>
            <a:off x="16883840" y="8737513"/>
            <a:ext cx="1365293" cy="769422"/>
          </a:xfrm>
          <a:custGeom>
            <a:avLst/>
            <a:gdLst/>
            <a:ahLst/>
            <a:cxnLst/>
            <a:rect l="l" t="t" r="r" b="b"/>
            <a:pathLst>
              <a:path w="1864239" h="769422">
                <a:moveTo>
                  <a:pt x="0" y="0"/>
                </a:moveTo>
                <a:lnTo>
                  <a:pt x="1864239" y="0"/>
                </a:lnTo>
                <a:lnTo>
                  <a:pt x="1864239" y="769423"/>
                </a:lnTo>
                <a:lnTo>
                  <a:pt x="0" y="7694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flipH="1" flipV="1">
            <a:off x="0" y="0"/>
            <a:ext cx="1240710" cy="1974569"/>
          </a:xfrm>
          <a:custGeom>
            <a:avLst/>
            <a:gdLst/>
            <a:ahLst/>
            <a:cxnLst/>
            <a:rect l="l" t="t" r="r" b="b"/>
            <a:pathLst>
              <a:path w="2481421" h="1974569">
                <a:moveTo>
                  <a:pt x="2481422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2" y="0"/>
                </a:lnTo>
                <a:lnTo>
                  <a:pt x="2481422" y="1974569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845145" y="2144729"/>
            <a:ext cx="14396854" cy="8004466"/>
            <a:chOff x="-9852" y="-193669"/>
            <a:chExt cx="3791764" cy="2108172"/>
          </a:xfrm>
        </p:grpSpPr>
        <p:sp>
          <p:nvSpPr>
            <p:cNvPr id="8" name="Freeform 8"/>
            <p:cNvSpPr/>
            <p:nvPr/>
          </p:nvSpPr>
          <p:spPr>
            <a:xfrm>
              <a:off x="-9852" y="-193669"/>
              <a:ext cx="3781912" cy="1939017"/>
            </a:xfrm>
            <a:custGeom>
              <a:avLst/>
              <a:gdLst/>
              <a:ahLst/>
              <a:cxnLst/>
              <a:rect l="l" t="t" r="r" b="b"/>
              <a:pathLst>
                <a:path w="3781912" h="2802096">
                  <a:moveTo>
                    <a:pt x="0" y="0"/>
                  </a:moveTo>
                  <a:lnTo>
                    <a:pt x="3781912" y="0"/>
                  </a:lnTo>
                  <a:lnTo>
                    <a:pt x="3781912" y="2802096"/>
                  </a:lnTo>
                  <a:lnTo>
                    <a:pt x="0" y="2802096"/>
                  </a:lnTo>
                  <a:close/>
                </a:path>
              </a:pathLst>
            </a:custGeom>
            <a:gradFill rotWithShape="1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96822"/>
              <a:ext cx="3781912" cy="1117681"/>
            </a:xfrm>
            <a:prstGeom prst="rect">
              <a:avLst/>
            </a:prstGeom>
          </p:spPr>
          <p:txBody>
            <a:bodyPr lIns="317500" tIns="317500" rIns="317500" bIns="317500" rtlCol="0" anchor="ctr"/>
            <a:lstStyle/>
            <a:p>
              <a:pPr algn="just">
                <a:lnSpc>
                  <a:spcPts val="3991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system uses a Virtual File System (VFS) to overcome LLM context limitations.</a:t>
              </a:r>
            </a:p>
            <a:p>
              <a:pPr algn="just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131"/>
                </a:lnSpc>
              </a:pPr>
              <a:r>
                <a:rPr lang="en-US" sz="2951" b="1" spc="-100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Memory Capabilities:</a:t>
              </a:r>
            </a:p>
            <a:p>
              <a:pPr algn="just">
                <a:lnSpc>
                  <a:spcPts val="4131"/>
                </a:lnSpc>
              </a:pPr>
              <a:endParaRPr lang="en-US" sz="2951" b="1" spc="-100" dirty="0">
                <a:solidFill>
                  <a:srgbClr val="FFFFFF"/>
                </a:solidFill>
                <a:latin typeface="Solway Bold"/>
                <a:ea typeface="Solway Bold"/>
                <a:cs typeface="Solway Bold"/>
                <a:sym typeface="Solway Bold"/>
              </a:endParaRP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Stores conversation history and decisions</a:t>
              </a:r>
            </a:p>
            <a:p>
              <a:pPr algn="just">
                <a:lnSpc>
                  <a:spcPts val="399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Supports read, write, update, and list operations</a:t>
              </a:r>
            </a:p>
            <a:p>
              <a:pPr algn="just">
                <a:lnSpc>
                  <a:spcPts val="399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marL="615603" lvl="1" indent="-307802" algn="just">
                <a:lnSpc>
                  <a:spcPts val="3991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Persists across sessions</a:t>
              </a:r>
            </a:p>
            <a:p>
              <a:pPr algn="just">
                <a:lnSpc>
                  <a:spcPts val="399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991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This enables long-term reasoning and context-aware responses.</a:t>
              </a:r>
            </a:p>
            <a:p>
              <a:pPr algn="just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r>
                <a:rPr lang="en-US" sz="2751" spc="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212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44251" y="17592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126368" y="-266700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796152" y="1607668"/>
            <a:ext cx="8265598" cy="86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98"/>
              </a:lnSpc>
            </a:pPr>
            <a:r>
              <a:rPr lang="en-US" sz="6734" b="1" spc="-437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 Layer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24000" y="2582028"/>
            <a:ext cx="14642690" cy="7438272"/>
            <a:chOff x="70546" y="-1576838"/>
            <a:chExt cx="3856511" cy="3511531"/>
          </a:xfrm>
        </p:grpSpPr>
        <p:sp>
          <p:nvSpPr>
            <p:cNvPr id="6" name="Freeform 6"/>
            <p:cNvSpPr/>
            <p:nvPr/>
          </p:nvSpPr>
          <p:spPr>
            <a:xfrm>
              <a:off x="107846" y="-1576838"/>
              <a:ext cx="3781912" cy="2700531"/>
            </a:xfrm>
            <a:custGeom>
              <a:avLst/>
              <a:gdLst/>
              <a:ahLst/>
              <a:cxnLst/>
              <a:rect l="l" t="t" r="r" b="b"/>
              <a:pathLst>
                <a:path w="3781912" h="2700531">
                  <a:moveTo>
                    <a:pt x="0" y="0"/>
                  </a:moveTo>
                  <a:lnTo>
                    <a:pt x="3781912" y="0"/>
                  </a:lnTo>
                  <a:lnTo>
                    <a:pt x="3781912" y="2700531"/>
                  </a:lnTo>
                  <a:lnTo>
                    <a:pt x="0" y="2700531"/>
                  </a:lnTo>
                  <a:close/>
                </a:path>
              </a:pathLst>
            </a:custGeom>
            <a:gradFill rotWithShape="1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546" y="379738"/>
              <a:ext cx="3856511" cy="1554955"/>
            </a:xfrm>
            <a:prstGeom prst="rect">
              <a:avLst/>
            </a:prstGeom>
          </p:spPr>
          <p:txBody>
            <a:bodyPr lIns="266700" tIns="266700" rIns="266700" bIns="266700" rtlCol="0" anchor="ctr"/>
            <a:lstStyle/>
            <a:p>
              <a:pPr algn="just">
                <a:lnSpc>
                  <a:spcPts val="3763"/>
                </a:lnSpc>
              </a:pPr>
              <a:r>
                <a:rPr lang="en-US" sz="2851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Agents do not directly execute actions. Instead, they use tools like web_search and summarize_text.These are the tools I used in this project.</a:t>
              </a:r>
            </a:p>
            <a:p>
              <a:pPr algn="just">
                <a:lnSpc>
                  <a:spcPts val="3631"/>
                </a:lnSpc>
              </a:pPr>
              <a:endParaRPr lang="en-US" sz="2851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895"/>
                </a:lnSpc>
              </a:pPr>
              <a:r>
                <a:rPr lang="en-US" sz="2951" b="1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Why Tools Matter:</a:t>
              </a:r>
            </a:p>
            <a:p>
              <a:pPr algn="just">
                <a:lnSpc>
                  <a:spcPts val="3895"/>
                </a:lnSpc>
              </a:pPr>
              <a:endParaRPr lang="en-US" sz="2951" b="1" dirty="0">
                <a:solidFill>
                  <a:srgbClr val="FFFFFF"/>
                </a:solidFill>
                <a:latin typeface="Solway Bold"/>
                <a:ea typeface="Solway Bold"/>
                <a:cs typeface="Solway Bold"/>
                <a:sym typeface="Solway Bold"/>
              </a:endParaRPr>
            </a:p>
            <a:p>
              <a:pPr marL="615603" lvl="1" indent="-307802" algn="just">
                <a:lnSpc>
                  <a:spcPts val="3763"/>
                </a:lnSpc>
                <a:buFont typeface="Arial"/>
                <a:buChar char="•"/>
              </a:pPr>
              <a:r>
                <a:rPr lang="en-US" sz="2851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Improves system safety</a:t>
              </a:r>
            </a:p>
            <a:p>
              <a:pPr marL="615603" lvl="1" indent="-307802" algn="just">
                <a:lnSpc>
                  <a:spcPts val="3763"/>
                </a:lnSpc>
                <a:buFont typeface="Arial"/>
                <a:buChar char="•"/>
              </a:pPr>
              <a:r>
                <a:rPr lang="en-US" sz="2851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Keeps agent logic clean</a:t>
              </a:r>
            </a:p>
            <a:p>
              <a:pPr marL="615603" lvl="1" indent="-307802" algn="just">
                <a:lnSpc>
                  <a:spcPts val="3763"/>
                </a:lnSpc>
                <a:buFont typeface="Arial"/>
                <a:buChar char="•"/>
              </a:pPr>
              <a:r>
                <a:rPr lang="en-US" sz="2851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Enables easy extension</a:t>
              </a:r>
            </a:p>
            <a:p>
              <a:pPr algn="just">
                <a:lnSpc>
                  <a:spcPts val="3763"/>
                </a:lnSpc>
              </a:pPr>
              <a:endParaRPr lang="en-US" sz="2851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763"/>
                </a:lnSpc>
              </a:pPr>
              <a:r>
                <a:rPr lang="en-US" sz="2851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agent decides what to do, while tools handle how it is done.</a:t>
              </a:r>
            </a:p>
            <a:p>
              <a:pPr algn="just">
                <a:lnSpc>
                  <a:spcPts val="3851"/>
                </a:lnSpc>
              </a:pPr>
              <a:endParaRPr lang="en-US" sz="2851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851"/>
                </a:lnSpc>
              </a:pPr>
              <a:endParaRPr lang="en-US" sz="2851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endParaRPr lang="en-US" sz="2851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r>
                <a:rPr lang="en-US" sz="2751" spc="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212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 flipH="1" flipV="1">
            <a:off x="-1" y="-2"/>
            <a:ext cx="1355051" cy="1512119"/>
          </a:xfrm>
          <a:custGeom>
            <a:avLst/>
            <a:gdLst/>
            <a:ahLst/>
            <a:cxnLst/>
            <a:rect l="l" t="t" r="r" b="b"/>
            <a:pathLst>
              <a:path w="2481421" h="1974569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6767349" y="7649127"/>
            <a:ext cx="1520652" cy="769422"/>
          </a:xfrm>
          <a:custGeom>
            <a:avLst/>
            <a:gdLst/>
            <a:ahLst/>
            <a:cxnLst/>
            <a:rect l="l" t="t" r="r" b="b"/>
            <a:pathLst>
              <a:path w="1864239" h="769422">
                <a:moveTo>
                  <a:pt x="0" y="0"/>
                </a:moveTo>
                <a:lnTo>
                  <a:pt x="1864239" y="0"/>
                </a:lnTo>
                <a:lnTo>
                  <a:pt x="1864239" y="769422"/>
                </a:lnTo>
                <a:lnTo>
                  <a:pt x="0" y="7694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82302" y="-98472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420774" y="98472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7258287" y="59530"/>
            <a:ext cx="968015" cy="769422"/>
          </a:xfrm>
          <a:custGeom>
            <a:avLst/>
            <a:gdLst/>
            <a:ahLst/>
            <a:cxnLst/>
            <a:rect l="l" t="t" r="r" b="b"/>
            <a:pathLst>
              <a:path w="1864239" h="769422">
                <a:moveTo>
                  <a:pt x="0" y="0"/>
                </a:moveTo>
                <a:lnTo>
                  <a:pt x="1864240" y="0"/>
                </a:lnTo>
                <a:lnTo>
                  <a:pt x="1864240" y="769422"/>
                </a:lnTo>
                <a:lnTo>
                  <a:pt x="0" y="7694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0" y="8312431"/>
            <a:ext cx="1000125" cy="1974569"/>
          </a:xfrm>
          <a:custGeom>
            <a:avLst/>
            <a:gdLst/>
            <a:ahLst/>
            <a:cxnLst/>
            <a:rect l="l" t="t" r="r" b="b"/>
            <a:pathLst>
              <a:path w="2481421" h="1974569">
                <a:moveTo>
                  <a:pt x="2481421" y="1974570"/>
                </a:moveTo>
                <a:lnTo>
                  <a:pt x="0" y="1974570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7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962600" y="1993203"/>
            <a:ext cx="14468155" cy="7668704"/>
            <a:chOff x="260676" y="577262"/>
            <a:chExt cx="3781912" cy="3697948"/>
          </a:xfrm>
        </p:grpSpPr>
        <p:sp>
          <p:nvSpPr>
            <p:cNvPr id="7" name="Freeform 7"/>
            <p:cNvSpPr/>
            <p:nvPr/>
          </p:nvSpPr>
          <p:spPr>
            <a:xfrm>
              <a:off x="260676" y="714577"/>
              <a:ext cx="3781912" cy="3560633"/>
            </a:xfrm>
            <a:custGeom>
              <a:avLst/>
              <a:gdLst/>
              <a:ahLst/>
              <a:cxnLst/>
              <a:rect l="l" t="t" r="r" b="b"/>
              <a:pathLst>
                <a:path w="3781912" h="3560633">
                  <a:moveTo>
                    <a:pt x="0" y="0"/>
                  </a:moveTo>
                  <a:lnTo>
                    <a:pt x="3781912" y="0"/>
                  </a:lnTo>
                  <a:lnTo>
                    <a:pt x="3781912" y="3560633"/>
                  </a:lnTo>
                  <a:lnTo>
                    <a:pt x="0" y="3560633"/>
                  </a:lnTo>
                  <a:close/>
                </a:path>
              </a:pathLst>
            </a:custGeom>
            <a:gradFill rotWithShape="1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9811" y="577262"/>
              <a:ext cx="3712777" cy="2089764"/>
            </a:xfrm>
            <a:prstGeom prst="rect">
              <a:avLst/>
            </a:prstGeom>
          </p:spPr>
          <p:txBody>
            <a:bodyPr lIns="317500" tIns="317500" rIns="317500" bIns="317500" rtlCol="0" anchor="ctr"/>
            <a:lstStyle/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533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system follows a structured execution pipeline:</a:t>
              </a: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marL="615603" lvl="1" indent="-307802" algn="just">
                <a:lnSpc>
                  <a:spcPts val="4533"/>
                </a:lnSpc>
                <a:buAutoNum type="arabicPeriod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User submits a query to the system.</a:t>
              </a:r>
            </a:p>
            <a:p>
              <a:pPr marL="615603" lvl="1" indent="-307802" algn="just">
                <a:lnSpc>
                  <a:spcPts val="4533"/>
                </a:lnSpc>
                <a:buAutoNum type="arabicPeriod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Supervisor Agent interprets the request and 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   creates a structured task plan.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3.Search Agent retrieves relevant information as 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    required using the web_search tool.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4.Supervisor performs reasoning using retrieved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   data and persistent memory.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b="1" spc="-96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   5.</a:t>
              </a: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Summarizer Agent compresses the generated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   output using the summarize_text tool.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6.System updates memory with latest interaction.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7.Final, refined response is delivered to the user.</a:t>
              </a:r>
            </a:p>
            <a:p>
              <a:pPr algn="just">
                <a:lnSpc>
                  <a:spcPts val="4533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r>
                <a:rPr lang="en-US" sz="2751" spc="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212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0757932" y="1577258"/>
            <a:ext cx="7094054" cy="7668703"/>
          </a:xfrm>
          <a:custGeom>
            <a:avLst/>
            <a:gdLst/>
            <a:ahLst/>
            <a:cxnLst/>
            <a:rect l="l" t="t" r="r" b="b"/>
            <a:pathLst>
              <a:path w="7094054" h="7668703">
                <a:moveTo>
                  <a:pt x="0" y="0"/>
                </a:moveTo>
                <a:lnTo>
                  <a:pt x="7094054" y="0"/>
                </a:lnTo>
                <a:lnTo>
                  <a:pt x="7094054" y="7668703"/>
                </a:lnTo>
                <a:lnTo>
                  <a:pt x="0" y="76687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039" r="-9224" b="-755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418256" y="444241"/>
            <a:ext cx="12421077" cy="104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369"/>
              </a:lnSpc>
            </a:pPr>
            <a:r>
              <a:rPr lang="en-US" sz="6860" b="1" spc="-44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End-to-End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24157" y="152400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8017632" y="0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 flipV="1">
            <a:off x="-44438" y="5550730"/>
            <a:ext cx="1196962" cy="1974569"/>
          </a:xfrm>
          <a:custGeom>
            <a:avLst/>
            <a:gdLst/>
            <a:ahLst/>
            <a:cxnLst/>
            <a:rect l="l" t="t" r="r" b="b"/>
            <a:pathLst>
              <a:path w="2481421" h="1974569">
                <a:moveTo>
                  <a:pt x="2481421" y="1974570"/>
                </a:moveTo>
                <a:lnTo>
                  <a:pt x="0" y="1974570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7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6992600" y="2367328"/>
            <a:ext cx="1295401" cy="769422"/>
          </a:xfrm>
          <a:custGeom>
            <a:avLst/>
            <a:gdLst/>
            <a:ahLst/>
            <a:cxnLst/>
            <a:rect l="l" t="t" r="r" b="b"/>
            <a:pathLst>
              <a:path w="1864239" h="769422">
                <a:moveTo>
                  <a:pt x="0" y="0"/>
                </a:moveTo>
                <a:lnTo>
                  <a:pt x="1864240" y="0"/>
                </a:lnTo>
                <a:lnTo>
                  <a:pt x="1864240" y="769422"/>
                </a:lnTo>
                <a:lnTo>
                  <a:pt x="0" y="769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980058" y="2752039"/>
            <a:ext cx="13683879" cy="6506261"/>
          </a:xfrm>
          <a:custGeom>
            <a:avLst/>
            <a:gdLst/>
            <a:ahLst/>
            <a:cxnLst/>
            <a:rect l="l" t="t" r="r" b="b"/>
            <a:pathLst>
              <a:path w="13683879" h="6506261">
                <a:moveTo>
                  <a:pt x="0" y="0"/>
                </a:moveTo>
                <a:lnTo>
                  <a:pt x="13683879" y="0"/>
                </a:lnTo>
                <a:lnTo>
                  <a:pt x="13683879" y="6506261"/>
                </a:lnTo>
                <a:lnTo>
                  <a:pt x="0" y="6506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27" t="-920" r="-10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807093" y="1019175"/>
            <a:ext cx="12421077" cy="104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369"/>
              </a:lnSpc>
            </a:pPr>
            <a:r>
              <a:rPr lang="en-US" sz="6860" b="1" spc="-44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45721" y="12822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277199" y="764995"/>
            <a:ext cx="12421077" cy="104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369"/>
              </a:lnSpc>
            </a:pPr>
            <a:r>
              <a:rPr lang="en-US" sz="6860" b="1" spc="-44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LangSmith Trace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89681" y="2065060"/>
            <a:ext cx="9229817" cy="7301262"/>
            <a:chOff x="-23050" y="0"/>
            <a:chExt cx="2430898" cy="32539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07848" cy="3111271"/>
            </a:xfrm>
            <a:custGeom>
              <a:avLst/>
              <a:gdLst/>
              <a:ahLst/>
              <a:cxnLst/>
              <a:rect l="l" t="t" r="r" b="b"/>
              <a:pathLst>
                <a:path w="2407848" h="3111271">
                  <a:moveTo>
                    <a:pt x="0" y="0"/>
                  </a:moveTo>
                  <a:lnTo>
                    <a:pt x="2407848" y="0"/>
                  </a:lnTo>
                  <a:lnTo>
                    <a:pt x="2407848" y="3111271"/>
                  </a:lnTo>
                  <a:lnTo>
                    <a:pt x="0" y="3111271"/>
                  </a:lnTo>
                  <a:close/>
                </a:path>
              </a:pathLst>
            </a:custGeom>
            <a:gradFill rotWithShape="1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23050" y="2000937"/>
              <a:ext cx="2407848" cy="1253058"/>
            </a:xfrm>
            <a:prstGeom prst="rect">
              <a:avLst/>
            </a:prstGeom>
          </p:spPr>
          <p:txBody>
            <a:bodyPr lIns="317500" tIns="317500" rIns="317500" bIns="317500" rtlCol="0" anchor="ctr"/>
            <a:lstStyle/>
            <a:p>
              <a:pPr algn="just">
                <a:lnSpc>
                  <a:spcPts val="3807"/>
                </a:lnSpc>
              </a:pPr>
              <a:r>
                <a:rPr lang="en-US" sz="2951" spc="-100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system uses LangSmith tracing to visualize and monitor the complete agent execution flow.</a:t>
              </a:r>
            </a:p>
            <a:p>
              <a:pPr algn="just">
                <a:lnSpc>
                  <a:spcPts val="3678"/>
                </a:lnSpc>
              </a:pPr>
              <a:endParaRPr lang="en-US" sz="2951" spc="-100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936"/>
                </a:lnSpc>
              </a:pPr>
              <a:r>
                <a:rPr lang="en-US" sz="3051" b="1" spc="-103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Trace Highlights:</a:t>
              </a:r>
            </a:p>
            <a:p>
              <a:pPr algn="just">
                <a:lnSpc>
                  <a:spcPts val="3678"/>
                </a:lnSpc>
              </a:pPr>
              <a:endParaRPr lang="en-US" sz="3051" b="1" spc="-103" dirty="0">
                <a:solidFill>
                  <a:srgbClr val="FFFFFF"/>
                </a:solidFill>
                <a:latin typeface="Solway Bold"/>
                <a:ea typeface="Solway Bold"/>
                <a:cs typeface="Solway Bold"/>
                <a:sym typeface="Solway Bold"/>
              </a:endParaRPr>
            </a:p>
            <a:p>
              <a:pPr marL="637193" lvl="1" indent="-318596" algn="just">
                <a:lnSpc>
                  <a:spcPts val="3807"/>
                </a:lnSpc>
                <a:buFont typeface="Arial"/>
                <a:buChar char="•"/>
              </a:pPr>
              <a:r>
                <a:rPr lang="en-US" sz="2951" spc="-100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Supervisor planning and agent delegation</a:t>
              </a:r>
            </a:p>
            <a:p>
              <a:pPr marL="637193" lvl="1" indent="-318596" algn="just">
                <a:lnSpc>
                  <a:spcPts val="3807"/>
                </a:lnSpc>
                <a:buFont typeface="Arial"/>
                <a:buChar char="•"/>
              </a:pPr>
              <a:r>
                <a:rPr lang="en-US" sz="2951" spc="-100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Tool usage and memory access</a:t>
              </a:r>
            </a:p>
            <a:p>
              <a:pPr marL="637193" lvl="1" indent="-318596" algn="just">
                <a:lnSpc>
                  <a:spcPts val="3807"/>
                </a:lnSpc>
                <a:buFont typeface="Arial"/>
                <a:buChar char="•"/>
              </a:pPr>
              <a:r>
                <a:rPr lang="en-US" sz="2951" spc="-100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Step-by-step reasoning path</a:t>
              </a:r>
            </a:p>
            <a:p>
              <a:pPr algn="just">
                <a:lnSpc>
                  <a:spcPts val="3678"/>
                </a:lnSpc>
              </a:pPr>
              <a:endParaRPr lang="en-US" sz="2951" spc="-100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065"/>
                </a:lnSpc>
              </a:pPr>
              <a:r>
                <a:rPr lang="en-US" sz="3151" b="1" spc="-107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Benefits:</a:t>
              </a:r>
            </a:p>
            <a:p>
              <a:pPr algn="just">
                <a:lnSpc>
                  <a:spcPts val="4065"/>
                </a:lnSpc>
              </a:pPr>
              <a:endParaRPr lang="en-US" sz="3151" b="1" spc="-107" dirty="0">
                <a:solidFill>
                  <a:srgbClr val="FFFFFF"/>
                </a:solidFill>
                <a:latin typeface="Solway Bold"/>
                <a:ea typeface="Solway Bold"/>
                <a:cs typeface="Solway Bold"/>
                <a:sym typeface="Solway Bold"/>
              </a:endParaRPr>
            </a:p>
            <a:p>
              <a:pPr marL="637193" lvl="1" indent="-318596" algn="just">
                <a:lnSpc>
                  <a:spcPts val="3807"/>
                </a:lnSpc>
                <a:buFont typeface="Arial"/>
                <a:buChar char="•"/>
              </a:pPr>
              <a:r>
                <a:rPr lang="en-US" sz="2951" spc="-100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Improves explainability</a:t>
              </a:r>
            </a:p>
            <a:p>
              <a:pPr marL="637193" lvl="1" indent="-318596" algn="just">
                <a:lnSpc>
                  <a:spcPts val="3807"/>
                </a:lnSpc>
                <a:buFont typeface="Arial"/>
                <a:buChar char="•"/>
              </a:pPr>
              <a:r>
                <a:rPr lang="en-US" sz="2951" spc="-100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Enables debugging and optimization</a:t>
              </a:r>
            </a:p>
            <a:p>
              <a:pPr algn="just">
                <a:lnSpc>
                  <a:spcPts val="3678"/>
                </a:lnSpc>
              </a:pPr>
              <a:endParaRPr lang="en-US" sz="2951" spc="-100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851"/>
                </a:lnSpc>
              </a:pPr>
              <a:endParaRPr lang="en-US" sz="2951" spc="-100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endParaRPr lang="en-US" sz="2951" spc="-100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r>
                <a:rPr lang="en-US" sz="2751" spc="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212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0634167" y="514350"/>
            <a:ext cx="7089896" cy="9258300"/>
          </a:xfrm>
          <a:custGeom>
            <a:avLst/>
            <a:gdLst/>
            <a:ahLst/>
            <a:cxnLst/>
            <a:rect l="l" t="t" r="r" b="b"/>
            <a:pathLst>
              <a:path w="7089896" h="9258300">
                <a:moveTo>
                  <a:pt x="0" y="0"/>
                </a:moveTo>
                <a:lnTo>
                  <a:pt x="7089896" y="0"/>
                </a:lnTo>
                <a:lnTo>
                  <a:pt x="7089896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2" t="-1877" r="-1230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0336" y="0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8382000" y="190500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16916400" y="9334500"/>
            <a:ext cx="1371601" cy="952500"/>
          </a:xfrm>
          <a:custGeom>
            <a:avLst/>
            <a:gdLst/>
            <a:ahLst/>
            <a:cxnLst/>
            <a:rect l="l" t="t" r="r" b="b"/>
            <a:pathLst>
              <a:path w="1864239" h="769422">
                <a:moveTo>
                  <a:pt x="0" y="0"/>
                </a:moveTo>
                <a:lnTo>
                  <a:pt x="1864239" y="0"/>
                </a:lnTo>
                <a:lnTo>
                  <a:pt x="1864239" y="769422"/>
                </a:lnTo>
                <a:lnTo>
                  <a:pt x="0" y="7694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855097" y="2324100"/>
            <a:ext cx="14359447" cy="7190543"/>
            <a:chOff x="0" y="0"/>
            <a:chExt cx="3781912" cy="30604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81912" cy="3060492"/>
            </a:xfrm>
            <a:custGeom>
              <a:avLst/>
              <a:gdLst/>
              <a:ahLst/>
              <a:cxnLst/>
              <a:rect l="l" t="t" r="r" b="b"/>
              <a:pathLst>
                <a:path w="3781912" h="3060492">
                  <a:moveTo>
                    <a:pt x="0" y="0"/>
                  </a:moveTo>
                  <a:lnTo>
                    <a:pt x="3781912" y="0"/>
                  </a:lnTo>
                  <a:lnTo>
                    <a:pt x="3781912" y="3060492"/>
                  </a:lnTo>
                  <a:lnTo>
                    <a:pt x="0" y="3060492"/>
                  </a:lnTo>
                  <a:close/>
                </a:path>
              </a:pathLst>
            </a:custGeom>
            <a:gradFill rotWithShape="1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90209"/>
              <a:ext cx="3781912" cy="1070283"/>
            </a:xfrm>
            <a:prstGeom prst="rect">
              <a:avLst/>
            </a:prstGeom>
          </p:spPr>
          <p:txBody>
            <a:bodyPr lIns="317500" tIns="317500" rIns="317500" bIns="317500" rtlCol="0" anchor="ctr"/>
            <a:lstStyle/>
            <a:p>
              <a:pPr algn="just">
                <a:lnSpc>
                  <a:spcPts val="3678"/>
                </a:lnSpc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Key Problems and How They Were Solved</a:t>
              </a:r>
            </a:p>
            <a:p>
              <a:pPr algn="just">
                <a:lnSpc>
                  <a:spcPts val="3678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678"/>
                </a:lnSpc>
              </a:pPr>
              <a:r>
                <a:rPr lang="en-US" sz="2851" b="1" spc="-96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Challenges Faced:</a:t>
              </a:r>
            </a:p>
            <a:p>
              <a:pPr algn="just">
                <a:lnSpc>
                  <a:spcPts val="3678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marL="615603" lvl="1" indent="-307802" algn="just">
                <a:lnSpc>
                  <a:spcPts val="3678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Limited LLM context</a:t>
              </a:r>
            </a:p>
            <a:p>
              <a:pPr marL="615603" lvl="1" indent="-307802" algn="just">
                <a:lnSpc>
                  <a:spcPts val="3678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Inconsistent outputs</a:t>
              </a:r>
            </a:p>
            <a:p>
              <a:pPr marL="615603" lvl="1" indent="-307802" algn="just">
                <a:lnSpc>
                  <a:spcPts val="3678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Complex multi-agent coordination</a:t>
              </a:r>
            </a:p>
            <a:p>
              <a:pPr algn="just">
                <a:lnSpc>
                  <a:spcPts val="3678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678"/>
                </a:lnSpc>
              </a:pPr>
              <a:r>
                <a:rPr lang="en-US" sz="2851" b="1" spc="-96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Solutions Implemented:</a:t>
              </a:r>
            </a:p>
            <a:p>
              <a:pPr algn="just">
                <a:lnSpc>
                  <a:spcPts val="3678"/>
                </a:lnSpc>
              </a:pPr>
              <a:endParaRPr lang="en-US" sz="2851" b="1" spc="-96" dirty="0">
                <a:solidFill>
                  <a:srgbClr val="FFFFFF"/>
                </a:solidFill>
                <a:latin typeface="Solway Bold"/>
                <a:ea typeface="Solway Bold"/>
                <a:cs typeface="Solway Bold"/>
                <a:sym typeface="Solway Bold"/>
              </a:endParaRPr>
            </a:p>
            <a:p>
              <a:pPr marL="615603" lvl="1" indent="-307802" algn="just">
                <a:lnSpc>
                  <a:spcPts val="3678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Persistent VFS memory</a:t>
              </a:r>
            </a:p>
            <a:p>
              <a:pPr marL="615603" lvl="1" indent="-307802" algn="just">
                <a:lnSpc>
                  <a:spcPts val="3678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Planning-based execution (TODO phase)</a:t>
              </a:r>
            </a:p>
            <a:p>
              <a:pPr marL="615603" lvl="1" indent="-307802" algn="just">
                <a:lnSpc>
                  <a:spcPts val="3678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Supervisor–Worker architecture</a:t>
              </a:r>
            </a:p>
            <a:p>
              <a:pPr marL="615603" lvl="1" indent="-307802" algn="just">
                <a:lnSpc>
                  <a:spcPts val="3678"/>
                </a:lnSpc>
                <a:buFont typeface="Arial"/>
                <a:buChar char="•"/>
              </a:pPr>
              <a:r>
                <a:rPr lang="en-US" sz="2851" spc="-96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LangGraph for state management</a:t>
              </a:r>
            </a:p>
            <a:p>
              <a:pPr algn="just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endParaRPr lang="en-US" sz="2851" spc="-96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r>
                <a:rPr lang="en-US" sz="2751" spc="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212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09377" y="1019172"/>
            <a:ext cx="12421077" cy="104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369"/>
              </a:lnSpc>
            </a:pPr>
            <a:r>
              <a:rPr lang="en-US" sz="6860" b="1" spc="-44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Challenges &amp; Solutions</a:t>
            </a:r>
          </a:p>
        </p:txBody>
      </p:sp>
      <p:sp>
        <p:nvSpPr>
          <p:cNvPr id="9" name="Freeform 9"/>
          <p:cNvSpPr/>
          <p:nvPr/>
        </p:nvSpPr>
        <p:spPr>
          <a:xfrm flipH="1" flipV="1">
            <a:off x="-1" y="-1"/>
            <a:ext cx="1794138" cy="1543883"/>
          </a:xfrm>
          <a:custGeom>
            <a:avLst/>
            <a:gdLst/>
            <a:ahLst/>
            <a:cxnLst/>
            <a:rect l="l" t="t" r="r" b="b"/>
            <a:pathLst>
              <a:path w="2481421" h="1974569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17632" y="0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30480" y="-22860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1679453" y="1019175"/>
            <a:ext cx="12421077" cy="104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369"/>
              </a:lnSpc>
            </a:pPr>
            <a:r>
              <a:rPr lang="en-US" sz="6860" b="1" spc="-44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30480" y="0"/>
            <a:ext cx="1467299" cy="1974569"/>
          </a:xfrm>
          <a:custGeom>
            <a:avLst/>
            <a:gdLst/>
            <a:ahLst/>
            <a:cxnLst/>
            <a:rect l="l" t="t" r="r" b="b"/>
            <a:pathLst>
              <a:path w="2481421" h="1974569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345366" y="2517017"/>
            <a:ext cx="13832198" cy="11504038"/>
            <a:chOff x="-32114" y="0"/>
            <a:chExt cx="3643048" cy="33984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10934" cy="1912867"/>
            </a:xfrm>
            <a:custGeom>
              <a:avLst/>
              <a:gdLst/>
              <a:ahLst/>
              <a:cxnLst/>
              <a:rect l="l" t="t" r="r" b="b"/>
              <a:pathLst>
                <a:path w="3610934" h="3342119">
                  <a:moveTo>
                    <a:pt x="0" y="0"/>
                  </a:moveTo>
                  <a:lnTo>
                    <a:pt x="3610934" y="0"/>
                  </a:lnTo>
                  <a:lnTo>
                    <a:pt x="3610934" y="3342119"/>
                  </a:lnTo>
                  <a:lnTo>
                    <a:pt x="0" y="3342119"/>
                  </a:lnTo>
                  <a:close/>
                </a:path>
              </a:pathLst>
            </a:custGeom>
            <a:gradFill rotWithShape="1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32114" y="168609"/>
              <a:ext cx="3610934" cy="3229862"/>
            </a:xfrm>
            <a:prstGeom prst="rect">
              <a:avLst/>
            </a:prstGeom>
          </p:spPr>
          <p:txBody>
            <a:bodyPr lIns="317500" tIns="317500" rIns="317500" bIns="317500" rtlCol="0" anchor="ctr"/>
            <a:lstStyle/>
            <a:p>
              <a:pPr algn="just">
                <a:lnSpc>
                  <a:spcPts val="3807"/>
                </a:lnSpc>
              </a:pPr>
              <a:r>
                <a:rPr lang="en-US" sz="2951" spc="-100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system can be extended to support more advanced autonomy and intelligence through the following enhancements:</a:t>
              </a:r>
            </a:p>
            <a:p>
              <a:pPr algn="just">
                <a:lnSpc>
                  <a:spcPts val="3807"/>
                </a:lnSpc>
              </a:pPr>
              <a:endParaRPr lang="en-US" sz="2951" spc="-100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marL="637193" lvl="1" indent="-318596" algn="just">
                <a:lnSpc>
                  <a:spcPts val="3807"/>
                </a:lnSpc>
                <a:buFont typeface="Arial"/>
                <a:buChar char="•"/>
              </a:pPr>
              <a:r>
                <a:rPr lang="en-US" sz="2951" b="1" spc="-100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Specialized Agents – </a:t>
              </a:r>
              <a:r>
                <a:rPr lang="en-US" sz="2951" spc="-100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Introduce domain-focused agents to improve task efficiency and scalability</a:t>
              </a:r>
            </a:p>
            <a:p>
              <a:pPr algn="just">
                <a:lnSpc>
                  <a:spcPts val="3807"/>
                </a:lnSpc>
              </a:pPr>
              <a:endParaRPr lang="en-US" sz="2951" spc="-100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marL="637193" lvl="1" indent="-318596" algn="just">
                <a:lnSpc>
                  <a:spcPts val="3807"/>
                </a:lnSpc>
                <a:buFont typeface="Arial"/>
                <a:buChar char="•"/>
              </a:pPr>
              <a:r>
                <a:rPr lang="en-US" sz="2951" b="1" spc="-100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External Integrations – </a:t>
              </a:r>
              <a:r>
                <a:rPr lang="en-US" sz="2951" spc="-100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Connect APIs and databases for real-time data access and persistent knowledge</a:t>
              </a:r>
            </a:p>
            <a:p>
              <a:pPr algn="just">
                <a:lnSpc>
                  <a:spcPts val="3807"/>
                </a:lnSpc>
              </a:pPr>
              <a:endParaRPr lang="en-US" sz="2951" spc="-100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marL="637193" lvl="1" indent="-318596" algn="just">
                <a:lnSpc>
                  <a:spcPts val="3807"/>
                </a:lnSpc>
                <a:buFont typeface="Arial"/>
                <a:buChar char="•"/>
              </a:pPr>
              <a:r>
                <a:rPr lang="en-US" sz="2951" b="1" spc="-100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Enhanced Memory Reasoning – </a:t>
              </a:r>
              <a:r>
                <a:rPr lang="en-US" sz="2951" spc="-100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Improve long-term memory handling with prioritization and semantic recall</a:t>
              </a:r>
            </a:p>
            <a:p>
              <a:pPr algn="just">
                <a:lnSpc>
                  <a:spcPts val="3807"/>
                </a:lnSpc>
              </a:pPr>
              <a:endParaRPr lang="en-US" sz="2951" spc="-100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marL="637193" lvl="1" indent="-318596" algn="just">
                <a:lnSpc>
                  <a:spcPts val="3807"/>
                </a:lnSpc>
                <a:buFont typeface="Arial"/>
                <a:buChar char="•"/>
              </a:pPr>
              <a:r>
                <a:rPr lang="en-US" sz="2951" b="1" spc="-100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Autonomous Task Loops – </a:t>
              </a:r>
              <a:r>
                <a:rPr lang="en-US" sz="2951" spc="-100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Enable continuous plan–execute–evaluate cycles with minimal human input</a:t>
              </a:r>
            </a:p>
            <a:p>
              <a:pPr algn="just">
                <a:lnSpc>
                  <a:spcPts val="3678"/>
                </a:lnSpc>
              </a:pPr>
              <a:endParaRPr lang="en-US" sz="2951" spc="-100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678"/>
                </a:lnSpc>
              </a:pPr>
              <a:endParaRPr lang="en-US" sz="2951" spc="-100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851"/>
                </a:lnSpc>
              </a:pPr>
              <a:endParaRPr lang="en-US" sz="2951" spc="-100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endParaRPr lang="en-US" sz="2951" spc="-100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r>
                <a:rPr lang="en-US" sz="2751" spc="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212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6384030" y="8607481"/>
            <a:ext cx="1864239" cy="769422"/>
          </a:xfrm>
          <a:custGeom>
            <a:avLst/>
            <a:gdLst/>
            <a:ahLst/>
            <a:cxnLst/>
            <a:rect l="l" t="t" r="r" b="b"/>
            <a:pathLst>
              <a:path w="1864239" h="769422">
                <a:moveTo>
                  <a:pt x="0" y="0"/>
                </a:moveTo>
                <a:lnTo>
                  <a:pt x="1864239" y="0"/>
                </a:lnTo>
                <a:lnTo>
                  <a:pt x="1864239" y="769422"/>
                </a:lnTo>
                <a:lnTo>
                  <a:pt x="0" y="769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93872" y="152400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4214" y="152400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9" y="0"/>
                </a:lnTo>
                <a:lnTo>
                  <a:pt x="102703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2107601" y="1468609"/>
            <a:ext cx="12421077" cy="104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369"/>
              </a:lnSpc>
            </a:pPr>
            <a:r>
              <a:rPr lang="en-US" sz="6860" b="1" spc="-44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914148" y="2953691"/>
            <a:ext cx="14359447" cy="7333309"/>
            <a:chOff x="0" y="0"/>
            <a:chExt cx="3781912" cy="28374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81912" cy="2837499"/>
            </a:xfrm>
            <a:custGeom>
              <a:avLst/>
              <a:gdLst/>
              <a:ahLst/>
              <a:cxnLst/>
              <a:rect l="l" t="t" r="r" b="b"/>
              <a:pathLst>
                <a:path w="3781912" h="2837499">
                  <a:moveTo>
                    <a:pt x="0" y="0"/>
                  </a:moveTo>
                  <a:lnTo>
                    <a:pt x="3781912" y="0"/>
                  </a:lnTo>
                  <a:lnTo>
                    <a:pt x="3781912" y="2837499"/>
                  </a:lnTo>
                  <a:lnTo>
                    <a:pt x="0" y="2837499"/>
                  </a:lnTo>
                  <a:close/>
                </a:path>
              </a:pathLst>
            </a:custGeom>
            <a:gradFill rotWithShape="1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407510"/>
              <a:ext cx="3781912" cy="1157893"/>
            </a:xfrm>
            <a:prstGeom prst="rect">
              <a:avLst/>
            </a:prstGeom>
          </p:spPr>
          <p:txBody>
            <a:bodyPr lIns="292100" tIns="292100" rIns="292100" bIns="292100" rtlCol="0" anchor="ctr"/>
            <a:lstStyle/>
            <a:p>
              <a:pPr algn="just">
                <a:lnSpc>
                  <a:spcPts val="4131"/>
                </a:lnSpc>
              </a:pPr>
              <a:r>
                <a:rPr lang="en-US" sz="2951" spc="-11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This project demonstrate a production-ready autonomous cognitive architecture that combines:</a:t>
              </a:r>
            </a:p>
            <a:p>
              <a:pPr algn="just">
                <a:lnSpc>
                  <a:spcPts val="4131"/>
                </a:lnSpc>
              </a:pPr>
              <a:endParaRPr lang="en-US" sz="2951" spc="-11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marL="637193" lvl="1" indent="-318596" algn="just">
                <a:lnSpc>
                  <a:spcPts val="4131"/>
                </a:lnSpc>
                <a:buFont typeface="Arial"/>
                <a:buChar char="•"/>
              </a:pPr>
              <a:r>
                <a:rPr lang="en-US" sz="2951" spc="-11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Planning and reasoning</a:t>
              </a:r>
            </a:p>
            <a:p>
              <a:pPr marL="637193" lvl="1" indent="-318596" algn="just">
                <a:lnSpc>
                  <a:spcPts val="4131"/>
                </a:lnSpc>
                <a:buFont typeface="Arial"/>
                <a:buChar char="•"/>
              </a:pPr>
              <a:r>
                <a:rPr lang="en-US" sz="2951" spc="-11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Multi-agent coordination</a:t>
              </a:r>
            </a:p>
            <a:p>
              <a:pPr marL="637193" lvl="1" indent="-318596" algn="just">
                <a:lnSpc>
                  <a:spcPts val="4131"/>
                </a:lnSpc>
                <a:buFont typeface="Arial"/>
                <a:buChar char="•"/>
              </a:pPr>
              <a:r>
                <a:rPr lang="en-US" sz="2951" spc="-11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Persistent memory</a:t>
              </a:r>
            </a:p>
            <a:p>
              <a:pPr marL="637193" lvl="1" indent="-318596" algn="just">
                <a:lnSpc>
                  <a:spcPts val="4131"/>
                </a:lnSpc>
                <a:buFont typeface="Arial"/>
                <a:buChar char="•"/>
              </a:pPr>
              <a:r>
                <a:rPr lang="en-US" sz="2951" spc="-11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Tool-driven execution</a:t>
              </a:r>
            </a:p>
            <a:p>
              <a:pPr algn="just">
                <a:lnSpc>
                  <a:spcPts val="4131"/>
                </a:lnSpc>
              </a:pPr>
              <a:endParaRPr lang="en-US" sz="2951" spc="-11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4131"/>
                </a:lnSpc>
              </a:pPr>
              <a:r>
                <a:rPr lang="en-US" sz="2951" spc="-11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system provides a strong foundation for autonomous research systems, intelligent assistants, and long-horizon AI applications.</a:t>
              </a:r>
            </a:p>
            <a:p>
              <a:pPr algn="just">
                <a:lnSpc>
                  <a:spcPts val="3991"/>
                </a:lnSpc>
              </a:pPr>
              <a:endParaRPr lang="en-US" sz="2951" spc="-11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just">
                <a:lnSpc>
                  <a:spcPts val="3851"/>
                </a:lnSpc>
              </a:pPr>
              <a:endParaRPr lang="en-US" sz="2951" spc="-11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endParaRPr lang="en-US" sz="2951" spc="-11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851"/>
                </a:lnSpc>
              </a:pPr>
              <a:r>
                <a:rPr lang="en-US" sz="2751" spc="5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212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0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212094" y="-114300"/>
            <a:ext cx="10270368" cy="10287000"/>
          </a:xfrm>
          <a:custGeom>
            <a:avLst/>
            <a:gdLst/>
            <a:ahLst/>
            <a:cxnLst/>
            <a:rect l="l" t="t" r="r" b="b"/>
            <a:pathLst>
              <a:path w="10270368" h="10287000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6669" b="-266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2548896" y="9130665"/>
            <a:ext cx="80905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71377" y="3196212"/>
            <a:ext cx="12573795" cy="1494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86"/>
              </a:lnSpc>
            </a:pPr>
            <a:r>
              <a:rPr lang="en-US" sz="11669" b="1" i="1" spc="23" dirty="0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>
            <a:off x="15831262" y="190500"/>
            <a:ext cx="2629760" cy="3893895"/>
          </a:xfrm>
          <a:custGeom>
            <a:avLst/>
            <a:gdLst/>
            <a:ahLst/>
            <a:cxnLst/>
            <a:rect l="l" t="t" r="r" b="b"/>
            <a:pathLst>
              <a:path w="3893895" h="3893895">
                <a:moveTo>
                  <a:pt x="0" y="0"/>
                </a:moveTo>
                <a:lnTo>
                  <a:pt x="3893895" y="0"/>
                </a:lnTo>
                <a:lnTo>
                  <a:pt x="3893895" y="3893895"/>
                </a:lnTo>
                <a:lnTo>
                  <a:pt x="0" y="38938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Freeform 7"/>
          <p:cNvSpPr/>
          <p:nvPr/>
        </p:nvSpPr>
        <p:spPr>
          <a:xfrm flipH="1" flipV="1">
            <a:off x="-1" y="4270839"/>
            <a:ext cx="2499186" cy="3979900"/>
          </a:xfrm>
          <a:custGeom>
            <a:avLst/>
            <a:gdLst/>
            <a:ahLst/>
            <a:cxnLst/>
            <a:rect l="l" t="t" r="r" b="b"/>
            <a:pathLst>
              <a:path w="3979900" h="3979900">
                <a:moveTo>
                  <a:pt x="3979900" y="3979900"/>
                </a:moveTo>
                <a:lnTo>
                  <a:pt x="0" y="3979900"/>
                </a:lnTo>
                <a:lnTo>
                  <a:pt x="0" y="0"/>
                </a:lnTo>
                <a:lnTo>
                  <a:pt x="3979900" y="0"/>
                </a:lnTo>
                <a:lnTo>
                  <a:pt x="3979900" y="39799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5716620" y="3805316"/>
            <a:ext cx="6829355" cy="6755830"/>
            <a:chOff x="-34370" y="-1651025"/>
            <a:chExt cx="1578926" cy="9877602"/>
          </a:xfrm>
        </p:grpSpPr>
        <p:sp>
          <p:nvSpPr>
            <p:cNvPr id="9" name="Freeform 9"/>
            <p:cNvSpPr/>
            <p:nvPr/>
          </p:nvSpPr>
          <p:spPr>
            <a:xfrm>
              <a:off x="-34370" y="776027"/>
              <a:ext cx="1578926" cy="2326121"/>
            </a:xfrm>
            <a:custGeom>
              <a:avLst/>
              <a:gdLst/>
              <a:ahLst/>
              <a:cxnLst/>
              <a:rect l="l" t="t" r="r" b="b"/>
              <a:pathLst>
                <a:path w="1578926" h="2326121">
                  <a:moveTo>
                    <a:pt x="0" y="0"/>
                  </a:moveTo>
                  <a:lnTo>
                    <a:pt x="1578926" y="0"/>
                  </a:lnTo>
                  <a:lnTo>
                    <a:pt x="1578926" y="2326121"/>
                  </a:lnTo>
                  <a:lnTo>
                    <a:pt x="0" y="2326121"/>
                  </a:lnTo>
                  <a:close/>
                </a:path>
              </a:pathLst>
            </a:custGeom>
            <a:gradFill rotWithShape="1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29171" y="-1651025"/>
              <a:ext cx="1542551" cy="9877602"/>
            </a:xfrm>
            <a:prstGeom prst="rect">
              <a:avLst/>
            </a:prstGeom>
          </p:spPr>
          <p:txBody>
            <a:bodyPr lIns="292100" tIns="292100" rIns="292100" bIns="292100" rtlCol="0" anchor="ctr"/>
            <a:lstStyle/>
            <a:p>
              <a:pPr algn="just">
                <a:lnSpc>
                  <a:spcPts val="4831"/>
                </a:lnSpc>
              </a:pPr>
              <a:r>
                <a:rPr lang="en-US" sz="3451" spc="-134" dirty="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  </a:t>
              </a:r>
              <a:r>
                <a:rPr lang="en-US" sz="3451" b="1" spc="-134" dirty="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Questions &amp; Discussion</a:t>
              </a:r>
            </a:p>
            <a:p>
              <a:pPr algn="just">
                <a:lnSpc>
                  <a:spcPts val="44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  <a:p>
              <a:pPr algn="l">
                <a:lnSpc>
                  <a:spcPts val="3711"/>
                </a:lnSpc>
              </a:pPr>
              <a:endParaRPr lang="en-US" sz="2751" spc="5" dirty="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763</Words>
  <Application>Microsoft Office PowerPoint</Application>
  <PresentationFormat>Custom</PresentationFormat>
  <Paragraphs>267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Solway</vt:lpstr>
      <vt:lpstr>Montserrat Bold</vt:lpstr>
      <vt:lpstr>Calibri</vt:lpstr>
      <vt:lpstr>Montserrat Bold Italics</vt:lpstr>
      <vt:lpstr>Arial</vt:lpstr>
      <vt:lpstr>Solway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Pink Gradient Minimalist Project Proposal Presentation</dc:title>
  <cp:lastModifiedBy>pavani gummidipudi</cp:lastModifiedBy>
  <cp:revision>3</cp:revision>
  <dcterms:created xsi:type="dcterms:W3CDTF">2006-08-16T00:00:00Z</dcterms:created>
  <dcterms:modified xsi:type="dcterms:W3CDTF">2026-01-21T14:03:35Z</dcterms:modified>
  <dc:identifier>DAG-kj0QupY</dc:identifier>
</cp:coreProperties>
</file>